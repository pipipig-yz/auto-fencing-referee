
<file path=[Content_Types].xml><?xml version="1.0" encoding="utf-8"?>
<Types xmlns="http://schemas.openxmlformats.org/package/2006/content-types">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8" r:id="rId2"/>
    <p:sldId id="260" r:id="rId3"/>
    <p:sldId id="261" r:id="rId4"/>
    <p:sldId id="262" r:id="rId5"/>
    <p:sldId id="263" r:id="rId6"/>
    <p:sldId id="256" r:id="rId7"/>
    <p:sldId id="259" r:id="rId8"/>
    <p:sldId id="264" r:id="rId9"/>
    <p:sldId id="268" r:id="rId10"/>
    <p:sldId id="265" r:id="rId11"/>
    <p:sldId id="266" r:id="rId12"/>
    <p:sldId id="267" r:id="rId13"/>
    <p:sldId id="257" r:id="rId1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14" autoAdjust="0"/>
    <p:restoredTop sz="63514" autoAdjust="0"/>
  </p:normalViewPr>
  <p:slideViewPr>
    <p:cSldViewPr snapToGrid="0">
      <p:cViewPr varScale="1">
        <p:scale>
          <a:sx n="61" d="100"/>
          <a:sy n="61" d="100"/>
        </p:scale>
        <p:origin x="1473" y="3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250979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Good afternoon. My name is Yucheng Zhu, and this is my CS207 final project. The work I will present today addresses a longstanding challenge in competitive fencing: the automated determination of scoring priority in sabre bouts. The system I developed leverages multimodal pose analysis to replicate, and potentially augment, the judgment process currently performed by human referees.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 appreciate the difficulty of this problem, it is necessary to understand how human referees currently adjudicate double-hit situations. When both fencers are hit simultaneously, the referee must resolve priority by examining three sequential criteria: which fencer initiated arm extension first, which fencer committed to a lunge first, and which fencer launched their attack first. The fundamental challenge is that sabre exchanges unfold in under one second. Even with access to slow-motion footage, accurate human judgment remains inconsistent and prone to error.</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Prior work in this domain has explored several directions. Allez Go introduced multimodal audio-visual fusion, incorporating audio cues such as the referee's spoken commands and the electronic scoring buzzer alongside visual information -- a first of its kind. FERA proposed an end-to-end pipeline for foil fencing, combining pose-based action recognition with rule-based inference, and released a public benchmark dataset. FenceNet focused specifically on fine-grained footwork recognition. My work builds upon these foundations and extends them to the more demanding context of sabre, where speed and rule complexity present additional constraints.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first core design component is temporal segmentation. Rather than processing the entire video uniformly, the system isolates the active fencing bout through multimodal event monitoring. On the audio channel, it detects the referee's 'Allez' command and the electronic buzzer. On the visual channel, it monitors the scoring apparatus indicator lights as well as athlete pose states. To reliably identify the relevant figures in each frame, the system selects the fencing piste as the ground region and identifies the two largest human bodies within it as the athletes. The scoring machine light -- red or green -- provides additional event anchoring.</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second core component is motion detection, which extracts four categories of events from the segmented bout. First, baseline detection establishes each athlete's static on-guard joint configuration, which serves as the reference zero-point for all subsequent motion thresholds. Second, lunge detection identifies the primary offensive footwork commitment. Third, attack detection monitors joint angles at the arm and shoulder to identify weapon arm extension. Fourth, pause detection flags any interruption in forward momentum following launch -- a condition that, under the rules of sabre, results in loss of priority.</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illustrates the specific geometric criteria used for lunge detection. Three conditions must be jointly satisfied: the front knee joint angle must exceed 150 degrees, the inter-thigh angle must exceed 120 degrees, and the stance width must exceed twice the baseline width recorded during the on-guard phase. The combination of these three criteria ensures that only a committed lunge is flagged, rather than minor weight shifts or preparatory movements.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Attack detection is defined by two joint angle thresholds measured on the weapon arm. The elbow joint must form an angle greater than 140 degrees, indicating a substantially extended arm, and the shoulder joint must exceed 60 degrees of elevation. These thresholds were determined empirically based on the typical biomechanics of a sabre attack and are designed to discriminate between an active extension and a resting or preparatory arm position.</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priority decision workflow mirrors the official FIE rules of sabre fencing and proceeds through four sequential steps. In Step 1, the algorithm compares arm-onset times between the two fencers; if the gap is within two frames, the comparison is considered simultaneous and the algorithm advances to Step 2. Step 2 applies the same logic to lunge-onset times with an identical two-frame threshold. Step 3 compares raw launch times using a more generous ten-frame simultaneity window, which accounts for the earlier and less deterministic nature of the launch action. Finally, Step 4 performs a forfeiture check, verifying that neither fencer paused or stepped backward after launch -- either of which would forfeit priority under the rules.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shows a representative output log from the debug aggregator module. The verdict proceeds step by step. In this example, the arm gap of one frame falls within the two-frame threshold, so the algorithm advances to the lunge comparison. The lunge gap is also within threshold, so the algorithm proceeds to Step 3. The launch gap of twelve frames exceeds the ten-frame threshold, and the left fencer is identified as the first mover. The key timestamps reveal that the left fencer launched at 0.67 seconds, while the right fencer launched at 1.07 seconds -- a 400-millisecond difference that is decisive. The final verdict is LEFT_SCORES, with no penalties assessed for either side.</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visualization output provides a per-frame overlay of all computed motion metrics. For each frame, the display shows the file identifier and ground-truth label alongside the algorithm's verdict. The attack joint angle panel reports elbow and shoulder values relative to their respective thresholds. The lunge panel reports knee angle, inter-thigh angle for both sides, and stance width relative to the baseline. One important note: the thigh angle threshold differs between the left and right fencer because the camera perspective and body orientation introduce an asymmetric projection effect on the detected joint angles.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event visualization provides a timeline-based view of all detected events for both fencers across the duration of the bout. This representation allows a reviewer to directly compare when each event -- arm onset, lunge, launch -- occurred for each athlete, and to quantify the temporal gaps between them. This output is particularly valuable for post-hoc analysis and for identifying edge cases where the threshold margins are narrow.</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system was evaluated on eleven test cases, achieving an overall accuracy of 81 percent. Ten of the eleven cases were correctly classified. The single misclassification occurred in video sequence 5, where the algorithm predicted LEFT_SCORES against a ground truth of RIGHT_SCORES. The current test set is limited in size, which constrains the statistical reliability of this figure. A primary direction for future work is the construction or curation of a larger, more diverse annotated dataset to enable more rigorous evaluation of the algorithm's generalization.</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most significant limitation of the current system is its inability to track the sword itself. Weapon tracking would substantially improve the accuracy of attack detection, as the moment of arm extension is more precisely defined by the blade tip trajectory than by joint angles alone. Furthermore, there are fencing scenarios -- such as a parry-riposte -- where the weapon's interaction with the opponent's blade is determinative for priority. Unfortunately, no publicly available dataset or library currently supports reliable sabre sword tracking. This remains an open problem and represents the most impactful avenue for future development.</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3A548D6-6CB5-003A-0B0F-0AE5FE31DAF9}"/>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E7AB80A7-FA4F-17E1-4A58-17E5665B509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C4FA61DC-53C4-6473-4280-64EC91CB58BB}"/>
              </a:ext>
            </a:extLst>
          </p:cNvPr>
          <p:cNvSpPr>
            <a:spLocks noGrp="1"/>
          </p:cNvSpPr>
          <p:nvPr>
            <p:ph type="dt" sz="half" idx="10"/>
          </p:nvPr>
        </p:nvSpPr>
        <p:spPr/>
        <p:txBody>
          <a:bodyPr/>
          <a:lstStyle/>
          <a:p>
            <a:fld id="{34F2250B-ECC4-4303-816C-0483AC26BFD0}" type="datetimeFigureOut">
              <a:rPr lang="zh-CN" altLang="en-US" smtClean="0"/>
              <a:t>2026/5/7</a:t>
            </a:fld>
            <a:endParaRPr lang="zh-CN" altLang="en-US"/>
          </a:p>
        </p:txBody>
      </p:sp>
      <p:sp>
        <p:nvSpPr>
          <p:cNvPr id="5" name="页脚占位符 4">
            <a:extLst>
              <a:ext uri="{FF2B5EF4-FFF2-40B4-BE49-F238E27FC236}">
                <a16:creationId xmlns:a16="http://schemas.microsoft.com/office/drawing/2014/main" id="{42A5B988-1099-B3AB-2AF6-37AEDA30F16C}"/>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87114C14-C51A-D338-052A-A42938703CC7}"/>
              </a:ext>
            </a:extLst>
          </p:cNvPr>
          <p:cNvSpPr>
            <a:spLocks noGrp="1"/>
          </p:cNvSpPr>
          <p:nvPr>
            <p:ph type="sldNum" sz="quarter" idx="12"/>
          </p:nvPr>
        </p:nvSpPr>
        <p:spPr/>
        <p:txBody>
          <a:bodyPr/>
          <a:lstStyle/>
          <a:p>
            <a:fld id="{EC96E199-FFBC-416C-AF61-AA776A238AB6}" type="slidenum">
              <a:rPr lang="zh-CN" altLang="en-US" smtClean="0"/>
              <a:t>‹#›</a:t>
            </a:fld>
            <a:endParaRPr lang="zh-CN" altLang="en-US"/>
          </a:p>
        </p:txBody>
      </p:sp>
    </p:spTree>
    <p:extLst>
      <p:ext uri="{BB962C8B-B14F-4D97-AF65-F5344CB8AC3E}">
        <p14:creationId xmlns:p14="http://schemas.microsoft.com/office/powerpoint/2010/main" val="23061441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99265FD-6FC1-2A3A-67FA-B3A256663637}"/>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6695C263-AFF1-1D75-F2CA-6E77D3C09E8D}"/>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A9DBB031-A033-BA06-C68A-370C87590B61}"/>
              </a:ext>
            </a:extLst>
          </p:cNvPr>
          <p:cNvSpPr>
            <a:spLocks noGrp="1"/>
          </p:cNvSpPr>
          <p:nvPr>
            <p:ph type="dt" sz="half" idx="10"/>
          </p:nvPr>
        </p:nvSpPr>
        <p:spPr/>
        <p:txBody>
          <a:bodyPr/>
          <a:lstStyle/>
          <a:p>
            <a:fld id="{34F2250B-ECC4-4303-816C-0483AC26BFD0}" type="datetimeFigureOut">
              <a:rPr lang="zh-CN" altLang="en-US" smtClean="0"/>
              <a:t>2026/5/7</a:t>
            </a:fld>
            <a:endParaRPr lang="zh-CN" altLang="en-US"/>
          </a:p>
        </p:txBody>
      </p:sp>
      <p:sp>
        <p:nvSpPr>
          <p:cNvPr id="5" name="页脚占位符 4">
            <a:extLst>
              <a:ext uri="{FF2B5EF4-FFF2-40B4-BE49-F238E27FC236}">
                <a16:creationId xmlns:a16="http://schemas.microsoft.com/office/drawing/2014/main" id="{199AC23C-55EF-6C30-9105-D32302B6A799}"/>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39F47701-7582-4B0C-CEA4-9920FD7E290B}"/>
              </a:ext>
            </a:extLst>
          </p:cNvPr>
          <p:cNvSpPr>
            <a:spLocks noGrp="1"/>
          </p:cNvSpPr>
          <p:nvPr>
            <p:ph type="sldNum" sz="quarter" idx="12"/>
          </p:nvPr>
        </p:nvSpPr>
        <p:spPr/>
        <p:txBody>
          <a:bodyPr/>
          <a:lstStyle/>
          <a:p>
            <a:fld id="{EC96E199-FFBC-416C-AF61-AA776A238AB6}" type="slidenum">
              <a:rPr lang="zh-CN" altLang="en-US" smtClean="0"/>
              <a:t>‹#›</a:t>
            </a:fld>
            <a:endParaRPr lang="zh-CN" altLang="en-US"/>
          </a:p>
        </p:txBody>
      </p:sp>
    </p:spTree>
    <p:extLst>
      <p:ext uri="{BB962C8B-B14F-4D97-AF65-F5344CB8AC3E}">
        <p14:creationId xmlns:p14="http://schemas.microsoft.com/office/powerpoint/2010/main" val="5521479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EC42D79-5812-B6FE-9D10-894D1388C240}"/>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F089A904-AA64-BB86-3541-C8769AD1399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085CDE86-B6E8-E19B-2689-F9B5DE0ACF61}"/>
              </a:ext>
            </a:extLst>
          </p:cNvPr>
          <p:cNvSpPr>
            <a:spLocks noGrp="1"/>
          </p:cNvSpPr>
          <p:nvPr>
            <p:ph type="dt" sz="half" idx="10"/>
          </p:nvPr>
        </p:nvSpPr>
        <p:spPr/>
        <p:txBody>
          <a:bodyPr/>
          <a:lstStyle/>
          <a:p>
            <a:fld id="{34F2250B-ECC4-4303-816C-0483AC26BFD0}" type="datetimeFigureOut">
              <a:rPr lang="zh-CN" altLang="en-US" smtClean="0"/>
              <a:t>2026/5/7</a:t>
            </a:fld>
            <a:endParaRPr lang="zh-CN" altLang="en-US"/>
          </a:p>
        </p:txBody>
      </p:sp>
      <p:sp>
        <p:nvSpPr>
          <p:cNvPr id="5" name="页脚占位符 4">
            <a:extLst>
              <a:ext uri="{FF2B5EF4-FFF2-40B4-BE49-F238E27FC236}">
                <a16:creationId xmlns:a16="http://schemas.microsoft.com/office/drawing/2014/main" id="{D4B9E166-0BEA-F8EB-3A6D-F351B694E44C}"/>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06BC5D4C-66CF-08B5-CC72-8FA5CC0FAE91}"/>
              </a:ext>
            </a:extLst>
          </p:cNvPr>
          <p:cNvSpPr>
            <a:spLocks noGrp="1"/>
          </p:cNvSpPr>
          <p:nvPr>
            <p:ph type="sldNum" sz="quarter" idx="12"/>
          </p:nvPr>
        </p:nvSpPr>
        <p:spPr/>
        <p:txBody>
          <a:bodyPr/>
          <a:lstStyle/>
          <a:p>
            <a:fld id="{EC96E199-FFBC-416C-AF61-AA776A238AB6}" type="slidenum">
              <a:rPr lang="zh-CN" altLang="en-US" smtClean="0"/>
              <a:t>‹#›</a:t>
            </a:fld>
            <a:endParaRPr lang="zh-CN" altLang="en-US"/>
          </a:p>
        </p:txBody>
      </p:sp>
    </p:spTree>
    <p:extLst>
      <p:ext uri="{BB962C8B-B14F-4D97-AF65-F5344CB8AC3E}">
        <p14:creationId xmlns:p14="http://schemas.microsoft.com/office/powerpoint/2010/main" val="10136827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DBAC38E-6476-C88B-C8F6-610D547DEF16}"/>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D1918DC9-609B-72F9-2CD5-76D2FBD9A999}"/>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E8D85CED-6C34-0F54-0B3D-6CE09C01753E}"/>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537572E1-4B95-EF79-1DDF-5A6E631D8B67}"/>
              </a:ext>
            </a:extLst>
          </p:cNvPr>
          <p:cNvSpPr>
            <a:spLocks noGrp="1"/>
          </p:cNvSpPr>
          <p:nvPr>
            <p:ph type="dt" sz="half" idx="10"/>
          </p:nvPr>
        </p:nvSpPr>
        <p:spPr/>
        <p:txBody>
          <a:bodyPr/>
          <a:lstStyle/>
          <a:p>
            <a:fld id="{34F2250B-ECC4-4303-816C-0483AC26BFD0}" type="datetimeFigureOut">
              <a:rPr lang="zh-CN" altLang="en-US" smtClean="0"/>
              <a:t>2026/5/7</a:t>
            </a:fld>
            <a:endParaRPr lang="zh-CN" altLang="en-US"/>
          </a:p>
        </p:txBody>
      </p:sp>
      <p:sp>
        <p:nvSpPr>
          <p:cNvPr id="6" name="页脚占位符 5">
            <a:extLst>
              <a:ext uri="{FF2B5EF4-FFF2-40B4-BE49-F238E27FC236}">
                <a16:creationId xmlns:a16="http://schemas.microsoft.com/office/drawing/2014/main" id="{AB4B8226-2296-157D-7407-835B466F43E9}"/>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F7653D48-0D59-36DC-6FC7-6871E8C905E8}"/>
              </a:ext>
            </a:extLst>
          </p:cNvPr>
          <p:cNvSpPr>
            <a:spLocks noGrp="1"/>
          </p:cNvSpPr>
          <p:nvPr>
            <p:ph type="sldNum" sz="quarter" idx="12"/>
          </p:nvPr>
        </p:nvSpPr>
        <p:spPr/>
        <p:txBody>
          <a:bodyPr/>
          <a:lstStyle/>
          <a:p>
            <a:fld id="{EC96E199-FFBC-416C-AF61-AA776A238AB6}" type="slidenum">
              <a:rPr lang="zh-CN" altLang="en-US" smtClean="0"/>
              <a:t>‹#›</a:t>
            </a:fld>
            <a:endParaRPr lang="zh-CN" altLang="en-US"/>
          </a:p>
        </p:txBody>
      </p:sp>
    </p:spTree>
    <p:extLst>
      <p:ext uri="{BB962C8B-B14F-4D97-AF65-F5344CB8AC3E}">
        <p14:creationId xmlns:p14="http://schemas.microsoft.com/office/powerpoint/2010/main" val="3374820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59CE03B-BB9F-44FE-B0A2-4545930A542B}"/>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C450A4ED-2D9F-7F61-A04D-08C8740BD98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6DBDAB16-E85B-9068-E9B4-120C9DEAE497}"/>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64DF3CD0-0D3C-B9F3-AA08-80443752EF8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752CCE6A-EC4C-1057-11E5-5480C5CA8459}"/>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9AE3796E-F82C-7511-4EDD-9DD858B0F2E2}"/>
              </a:ext>
            </a:extLst>
          </p:cNvPr>
          <p:cNvSpPr>
            <a:spLocks noGrp="1"/>
          </p:cNvSpPr>
          <p:nvPr>
            <p:ph type="dt" sz="half" idx="10"/>
          </p:nvPr>
        </p:nvSpPr>
        <p:spPr/>
        <p:txBody>
          <a:bodyPr/>
          <a:lstStyle/>
          <a:p>
            <a:fld id="{34F2250B-ECC4-4303-816C-0483AC26BFD0}" type="datetimeFigureOut">
              <a:rPr lang="zh-CN" altLang="en-US" smtClean="0"/>
              <a:t>2026/5/7</a:t>
            </a:fld>
            <a:endParaRPr lang="zh-CN" altLang="en-US"/>
          </a:p>
        </p:txBody>
      </p:sp>
      <p:sp>
        <p:nvSpPr>
          <p:cNvPr id="8" name="页脚占位符 7">
            <a:extLst>
              <a:ext uri="{FF2B5EF4-FFF2-40B4-BE49-F238E27FC236}">
                <a16:creationId xmlns:a16="http://schemas.microsoft.com/office/drawing/2014/main" id="{51D227E5-2F2C-7EA9-1C70-0ED57439E11B}"/>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49033458-4B80-F1FC-7926-D623A07AF841}"/>
              </a:ext>
            </a:extLst>
          </p:cNvPr>
          <p:cNvSpPr>
            <a:spLocks noGrp="1"/>
          </p:cNvSpPr>
          <p:nvPr>
            <p:ph type="sldNum" sz="quarter" idx="12"/>
          </p:nvPr>
        </p:nvSpPr>
        <p:spPr/>
        <p:txBody>
          <a:bodyPr/>
          <a:lstStyle/>
          <a:p>
            <a:fld id="{EC96E199-FFBC-416C-AF61-AA776A238AB6}" type="slidenum">
              <a:rPr lang="zh-CN" altLang="en-US" smtClean="0"/>
              <a:t>‹#›</a:t>
            </a:fld>
            <a:endParaRPr lang="zh-CN" altLang="en-US"/>
          </a:p>
        </p:txBody>
      </p:sp>
    </p:spTree>
    <p:extLst>
      <p:ext uri="{BB962C8B-B14F-4D97-AF65-F5344CB8AC3E}">
        <p14:creationId xmlns:p14="http://schemas.microsoft.com/office/powerpoint/2010/main" val="4168534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BAA1F95-2C5C-DD67-6A7B-69060A5FBE09}"/>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B2537992-039E-958A-B1DF-5A18D7169E19}"/>
              </a:ext>
            </a:extLst>
          </p:cNvPr>
          <p:cNvSpPr>
            <a:spLocks noGrp="1"/>
          </p:cNvSpPr>
          <p:nvPr>
            <p:ph type="dt" sz="half" idx="10"/>
          </p:nvPr>
        </p:nvSpPr>
        <p:spPr/>
        <p:txBody>
          <a:bodyPr/>
          <a:lstStyle/>
          <a:p>
            <a:fld id="{34F2250B-ECC4-4303-816C-0483AC26BFD0}" type="datetimeFigureOut">
              <a:rPr lang="zh-CN" altLang="en-US" smtClean="0"/>
              <a:t>2026/5/7</a:t>
            </a:fld>
            <a:endParaRPr lang="zh-CN" altLang="en-US"/>
          </a:p>
        </p:txBody>
      </p:sp>
      <p:sp>
        <p:nvSpPr>
          <p:cNvPr id="4" name="页脚占位符 3">
            <a:extLst>
              <a:ext uri="{FF2B5EF4-FFF2-40B4-BE49-F238E27FC236}">
                <a16:creationId xmlns:a16="http://schemas.microsoft.com/office/drawing/2014/main" id="{4C3A1F19-8345-7BFB-B779-A48E50682E0B}"/>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C2FE815A-A02F-6701-2364-15808921B322}"/>
              </a:ext>
            </a:extLst>
          </p:cNvPr>
          <p:cNvSpPr>
            <a:spLocks noGrp="1"/>
          </p:cNvSpPr>
          <p:nvPr>
            <p:ph type="sldNum" sz="quarter" idx="12"/>
          </p:nvPr>
        </p:nvSpPr>
        <p:spPr/>
        <p:txBody>
          <a:bodyPr/>
          <a:lstStyle/>
          <a:p>
            <a:fld id="{EC96E199-FFBC-416C-AF61-AA776A238AB6}" type="slidenum">
              <a:rPr lang="zh-CN" altLang="en-US" smtClean="0"/>
              <a:t>‹#›</a:t>
            </a:fld>
            <a:endParaRPr lang="zh-CN" altLang="en-US"/>
          </a:p>
        </p:txBody>
      </p:sp>
    </p:spTree>
    <p:extLst>
      <p:ext uri="{BB962C8B-B14F-4D97-AF65-F5344CB8AC3E}">
        <p14:creationId xmlns:p14="http://schemas.microsoft.com/office/powerpoint/2010/main" val="2221452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02E4C6B2-D87A-4EF2-4A32-12EF97DFEF2E}"/>
              </a:ext>
            </a:extLst>
          </p:cNvPr>
          <p:cNvSpPr>
            <a:spLocks noGrp="1"/>
          </p:cNvSpPr>
          <p:nvPr>
            <p:ph type="dt" sz="half" idx="10"/>
          </p:nvPr>
        </p:nvSpPr>
        <p:spPr/>
        <p:txBody>
          <a:bodyPr/>
          <a:lstStyle/>
          <a:p>
            <a:fld id="{34F2250B-ECC4-4303-816C-0483AC26BFD0}" type="datetimeFigureOut">
              <a:rPr lang="zh-CN" altLang="en-US" smtClean="0"/>
              <a:t>2026/5/7</a:t>
            </a:fld>
            <a:endParaRPr lang="zh-CN" altLang="en-US"/>
          </a:p>
        </p:txBody>
      </p:sp>
      <p:sp>
        <p:nvSpPr>
          <p:cNvPr id="3" name="页脚占位符 2">
            <a:extLst>
              <a:ext uri="{FF2B5EF4-FFF2-40B4-BE49-F238E27FC236}">
                <a16:creationId xmlns:a16="http://schemas.microsoft.com/office/drawing/2014/main" id="{36EE000E-9E31-D5D9-84F0-3D3182C97DE4}"/>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3D5B5320-28A9-A9F0-A4A8-B0310023E424}"/>
              </a:ext>
            </a:extLst>
          </p:cNvPr>
          <p:cNvSpPr>
            <a:spLocks noGrp="1"/>
          </p:cNvSpPr>
          <p:nvPr>
            <p:ph type="sldNum" sz="quarter" idx="12"/>
          </p:nvPr>
        </p:nvSpPr>
        <p:spPr/>
        <p:txBody>
          <a:bodyPr/>
          <a:lstStyle/>
          <a:p>
            <a:fld id="{EC96E199-FFBC-416C-AF61-AA776A238AB6}" type="slidenum">
              <a:rPr lang="zh-CN" altLang="en-US" smtClean="0"/>
              <a:t>‹#›</a:t>
            </a:fld>
            <a:endParaRPr lang="zh-CN" altLang="en-US"/>
          </a:p>
        </p:txBody>
      </p:sp>
    </p:spTree>
    <p:extLst>
      <p:ext uri="{BB962C8B-B14F-4D97-AF65-F5344CB8AC3E}">
        <p14:creationId xmlns:p14="http://schemas.microsoft.com/office/powerpoint/2010/main" val="28207584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CF9A683-53B3-F6BE-EBD1-C54D7636D9A7}"/>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11B8BFFE-5E5E-BDD2-C652-9BD92250570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EA435BAE-370F-491A-F3AC-9C9267570FD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77FBDF10-A9A0-3A20-2715-2B5492ACF310}"/>
              </a:ext>
            </a:extLst>
          </p:cNvPr>
          <p:cNvSpPr>
            <a:spLocks noGrp="1"/>
          </p:cNvSpPr>
          <p:nvPr>
            <p:ph type="dt" sz="half" idx="10"/>
          </p:nvPr>
        </p:nvSpPr>
        <p:spPr/>
        <p:txBody>
          <a:bodyPr/>
          <a:lstStyle/>
          <a:p>
            <a:fld id="{34F2250B-ECC4-4303-816C-0483AC26BFD0}" type="datetimeFigureOut">
              <a:rPr lang="zh-CN" altLang="en-US" smtClean="0"/>
              <a:t>2026/5/7</a:t>
            </a:fld>
            <a:endParaRPr lang="zh-CN" altLang="en-US"/>
          </a:p>
        </p:txBody>
      </p:sp>
      <p:sp>
        <p:nvSpPr>
          <p:cNvPr id="6" name="页脚占位符 5">
            <a:extLst>
              <a:ext uri="{FF2B5EF4-FFF2-40B4-BE49-F238E27FC236}">
                <a16:creationId xmlns:a16="http://schemas.microsoft.com/office/drawing/2014/main" id="{7F1D1F44-479B-A441-00D8-05442F4F58B2}"/>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BD8D56E2-8855-3A11-36A1-C579CFF2FFA8}"/>
              </a:ext>
            </a:extLst>
          </p:cNvPr>
          <p:cNvSpPr>
            <a:spLocks noGrp="1"/>
          </p:cNvSpPr>
          <p:nvPr>
            <p:ph type="sldNum" sz="quarter" idx="12"/>
          </p:nvPr>
        </p:nvSpPr>
        <p:spPr/>
        <p:txBody>
          <a:bodyPr/>
          <a:lstStyle/>
          <a:p>
            <a:fld id="{EC96E199-FFBC-416C-AF61-AA776A238AB6}" type="slidenum">
              <a:rPr lang="zh-CN" altLang="en-US" smtClean="0"/>
              <a:t>‹#›</a:t>
            </a:fld>
            <a:endParaRPr lang="zh-CN" altLang="en-US"/>
          </a:p>
        </p:txBody>
      </p:sp>
    </p:spTree>
    <p:extLst>
      <p:ext uri="{BB962C8B-B14F-4D97-AF65-F5344CB8AC3E}">
        <p14:creationId xmlns:p14="http://schemas.microsoft.com/office/powerpoint/2010/main" val="10936205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586052B-8400-6E25-6F42-316A3548EBD0}"/>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82C4E61D-1FCA-E87C-F485-A5D57D55355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16C20F6A-AD0A-EDB8-A6CD-F7475E712C7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3C5A16CA-A46A-41C9-863A-0C9171D383BE}"/>
              </a:ext>
            </a:extLst>
          </p:cNvPr>
          <p:cNvSpPr>
            <a:spLocks noGrp="1"/>
          </p:cNvSpPr>
          <p:nvPr>
            <p:ph type="dt" sz="half" idx="10"/>
          </p:nvPr>
        </p:nvSpPr>
        <p:spPr/>
        <p:txBody>
          <a:bodyPr/>
          <a:lstStyle/>
          <a:p>
            <a:fld id="{34F2250B-ECC4-4303-816C-0483AC26BFD0}" type="datetimeFigureOut">
              <a:rPr lang="zh-CN" altLang="en-US" smtClean="0"/>
              <a:t>2026/5/7</a:t>
            </a:fld>
            <a:endParaRPr lang="zh-CN" altLang="en-US"/>
          </a:p>
        </p:txBody>
      </p:sp>
      <p:sp>
        <p:nvSpPr>
          <p:cNvPr id="6" name="页脚占位符 5">
            <a:extLst>
              <a:ext uri="{FF2B5EF4-FFF2-40B4-BE49-F238E27FC236}">
                <a16:creationId xmlns:a16="http://schemas.microsoft.com/office/drawing/2014/main" id="{FC05FE9E-4E3E-3B29-F5B2-1F6F2D9C49E0}"/>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FFA27D38-5A4B-83A8-7810-0A596B997D84}"/>
              </a:ext>
            </a:extLst>
          </p:cNvPr>
          <p:cNvSpPr>
            <a:spLocks noGrp="1"/>
          </p:cNvSpPr>
          <p:nvPr>
            <p:ph type="sldNum" sz="quarter" idx="12"/>
          </p:nvPr>
        </p:nvSpPr>
        <p:spPr/>
        <p:txBody>
          <a:bodyPr/>
          <a:lstStyle/>
          <a:p>
            <a:fld id="{EC96E199-FFBC-416C-AF61-AA776A238AB6}" type="slidenum">
              <a:rPr lang="zh-CN" altLang="en-US" smtClean="0"/>
              <a:t>‹#›</a:t>
            </a:fld>
            <a:endParaRPr lang="zh-CN" altLang="en-US"/>
          </a:p>
        </p:txBody>
      </p:sp>
    </p:spTree>
    <p:extLst>
      <p:ext uri="{BB962C8B-B14F-4D97-AF65-F5344CB8AC3E}">
        <p14:creationId xmlns:p14="http://schemas.microsoft.com/office/powerpoint/2010/main" val="37136192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16A959-B4B7-A4BA-201A-7D0FBE8A368D}"/>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7EDAD5D2-F4F9-EC89-994A-DD1A1819D0BF}"/>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A5ED8EFD-3941-7F0F-08E4-4899B3B53961}"/>
              </a:ext>
            </a:extLst>
          </p:cNvPr>
          <p:cNvSpPr>
            <a:spLocks noGrp="1"/>
          </p:cNvSpPr>
          <p:nvPr>
            <p:ph type="dt" sz="half" idx="10"/>
          </p:nvPr>
        </p:nvSpPr>
        <p:spPr/>
        <p:txBody>
          <a:bodyPr/>
          <a:lstStyle/>
          <a:p>
            <a:fld id="{34F2250B-ECC4-4303-816C-0483AC26BFD0}" type="datetimeFigureOut">
              <a:rPr lang="zh-CN" altLang="en-US" smtClean="0"/>
              <a:t>2026/5/7</a:t>
            </a:fld>
            <a:endParaRPr lang="zh-CN" altLang="en-US"/>
          </a:p>
        </p:txBody>
      </p:sp>
      <p:sp>
        <p:nvSpPr>
          <p:cNvPr id="5" name="页脚占位符 4">
            <a:extLst>
              <a:ext uri="{FF2B5EF4-FFF2-40B4-BE49-F238E27FC236}">
                <a16:creationId xmlns:a16="http://schemas.microsoft.com/office/drawing/2014/main" id="{512FC23A-3C32-3229-08A4-01CA8DB5608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7C255580-EFD9-B57C-25C6-C7525447BD22}"/>
              </a:ext>
            </a:extLst>
          </p:cNvPr>
          <p:cNvSpPr>
            <a:spLocks noGrp="1"/>
          </p:cNvSpPr>
          <p:nvPr>
            <p:ph type="sldNum" sz="quarter" idx="12"/>
          </p:nvPr>
        </p:nvSpPr>
        <p:spPr/>
        <p:txBody>
          <a:bodyPr/>
          <a:lstStyle/>
          <a:p>
            <a:fld id="{EC96E199-FFBC-416C-AF61-AA776A238AB6}" type="slidenum">
              <a:rPr lang="zh-CN" altLang="en-US" smtClean="0"/>
              <a:t>‹#›</a:t>
            </a:fld>
            <a:endParaRPr lang="zh-CN" altLang="en-US"/>
          </a:p>
        </p:txBody>
      </p:sp>
    </p:spTree>
    <p:extLst>
      <p:ext uri="{BB962C8B-B14F-4D97-AF65-F5344CB8AC3E}">
        <p14:creationId xmlns:p14="http://schemas.microsoft.com/office/powerpoint/2010/main" val="41785227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4F857752-4636-5DA0-5BCA-C5E107AFF9E5}"/>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57AF7986-C0A7-B3E0-2669-A4FBDA7450AD}"/>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5CBE45D9-EF07-B425-AFFE-E861BF1117E0}"/>
              </a:ext>
            </a:extLst>
          </p:cNvPr>
          <p:cNvSpPr>
            <a:spLocks noGrp="1"/>
          </p:cNvSpPr>
          <p:nvPr>
            <p:ph type="dt" sz="half" idx="10"/>
          </p:nvPr>
        </p:nvSpPr>
        <p:spPr/>
        <p:txBody>
          <a:bodyPr/>
          <a:lstStyle/>
          <a:p>
            <a:fld id="{34F2250B-ECC4-4303-816C-0483AC26BFD0}" type="datetimeFigureOut">
              <a:rPr lang="zh-CN" altLang="en-US" smtClean="0"/>
              <a:t>2026/5/7</a:t>
            </a:fld>
            <a:endParaRPr lang="zh-CN" altLang="en-US"/>
          </a:p>
        </p:txBody>
      </p:sp>
      <p:sp>
        <p:nvSpPr>
          <p:cNvPr id="5" name="页脚占位符 4">
            <a:extLst>
              <a:ext uri="{FF2B5EF4-FFF2-40B4-BE49-F238E27FC236}">
                <a16:creationId xmlns:a16="http://schemas.microsoft.com/office/drawing/2014/main" id="{2C14992C-374A-2B5E-915D-BF2100DCF07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37AA1C32-0948-3BD3-3D69-F164E52F8C32}"/>
              </a:ext>
            </a:extLst>
          </p:cNvPr>
          <p:cNvSpPr>
            <a:spLocks noGrp="1"/>
          </p:cNvSpPr>
          <p:nvPr>
            <p:ph type="sldNum" sz="quarter" idx="12"/>
          </p:nvPr>
        </p:nvSpPr>
        <p:spPr/>
        <p:txBody>
          <a:bodyPr/>
          <a:lstStyle/>
          <a:p>
            <a:fld id="{EC96E199-FFBC-416C-AF61-AA776A238AB6}" type="slidenum">
              <a:rPr lang="zh-CN" altLang="en-US" smtClean="0"/>
              <a:t>‹#›</a:t>
            </a:fld>
            <a:endParaRPr lang="zh-CN" altLang="en-US"/>
          </a:p>
        </p:txBody>
      </p:sp>
    </p:spTree>
    <p:extLst>
      <p:ext uri="{BB962C8B-B14F-4D97-AF65-F5344CB8AC3E}">
        <p14:creationId xmlns:p14="http://schemas.microsoft.com/office/powerpoint/2010/main" val="45663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273DC1CE-D470-FE48-A017-9E460EBFBD5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726550A8-C39E-031B-3848-0A44F666FB7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52B52F4D-9F3A-9F58-9D9E-1332278BD5F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4F2250B-ECC4-4303-816C-0483AC26BFD0}" type="datetimeFigureOut">
              <a:rPr lang="zh-CN" altLang="en-US" smtClean="0"/>
              <a:t>2026/5/7</a:t>
            </a:fld>
            <a:endParaRPr lang="zh-CN" altLang="en-US"/>
          </a:p>
        </p:txBody>
      </p:sp>
      <p:sp>
        <p:nvSpPr>
          <p:cNvPr id="5" name="页脚占位符 4">
            <a:extLst>
              <a:ext uri="{FF2B5EF4-FFF2-40B4-BE49-F238E27FC236}">
                <a16:creationId xmlns:a16="http://schemas.microsoft.com/office/drawing/2014/main" id="{50C187B2-1610-A5D9-C047-D01A1D7C954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CN" altLang="en-US"/>
          </a:p>
        </p:txBody>
      </p:sp>
      <p:sp>
        <p:nvSpPr>
          <p:cNvPr id="6" name="灯片编号占位符 5">
            <a:extLst>
              <a:ext uri="{FF2B5EF4-FFF2-40B4-BE49-F238E27FC236}">
                <a16:creationId xmlns:a16="http://schemas.microsoft.com/office/drawing/2014/main" id="{4E3EA6AD-EAFC-93CA-1455-9D0D3977750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C96E199-FFBC-416C-AF61-AA776A238AB6}" type="slidenum">
              <a:rPr lang="zh-CN" altLang="en-US" smtClean="0"/>
              <a:t>‹#›</a:t>
            </a:fld>
            <a:endParaRPr lang="zh-CN" altLang="en-US"/>
          </a:p>
        </p:txBody>
      </p:sp>
    </p:spTree>
    <p:extLst>
      <p:ext uri="{BB962C8B-B14F-4D97-AF65-F5344CB8AC3E}">
        <p14:creationId xmlns:p14="http://schemas.microsoft.com/office/powerpoint/2010/main" val="1420924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github.com/pipipig-yz/Auto-Fencing-Referee/tree/master"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1.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E7DA50-D7BB-10F3-220C-E7510EDBCC52}"/>
              </a:ext>
            </a:extLst>
          </p:cNvPr>
          <p:cNvSpPr>
            <a:spLocks noGrp="1"/>
          </p:cNvSpPr>
          <p:nvPr>
            <p:ph type="ctrTitle"/>
          </p:nvPr>
        </p:nvSpPr>
        <p:spPr>
          <a:xfrm>
            <a:off x="1477992" y="2235200"/>
            <a:ext cx="9144000" cy="2387600"/>
          </a:xfrm>
        </p:spPr>
        <p:txBody>
          <a:bodyPr>
            <a:normAutofit fontScale="90000"/>
          </a:bodyPr>
          <a:lstStyle/>
          <a:p>
            <a:r>
              <a:rPr lang="en-US" altLang="zh-CN" dirty="0"/>
              <a:t>Automated Priority Judgment for Sabre Fencing via Multimodal </a:t>
            </a:r>
            <a:r>
              <a:rPr lang="en-US" altLang="zh-CN"/>
              <a:t>PoseAnalysis</a:t>
            </a:r>
            <a:endParaRPr lang="zh-CN" altLang="en-US" dirty="0"/>
          </a:p>
        </p:txBody>
      </p:sp>
      <p:sp>
        <p:nvSpPr>
          <p:cNvPr id="3" name="副标题 2">
            <a:extLst>
              <a:ext uri="{FF2B5EF4-FFF2-40B4-BE49-F238E27FC236}">
                <a16:creationId xmlns:a16="http://schemas.microsoft.com/office/drawing/2014/main" id="{C500C13E-5F07-88D0-309A-7BB0C7695CF0}"/>
              </a:ext>
            </a:extLst>
          </p:cNvPr>
          <p:cNvSpPr>
            <a:spLocks noGrp="1"/>
          </p:cNvSpPr>
          <p:nvPr>
            <p:ph type="subTitle" idx="1"/>
          </p:nvPr>
        </p:nvSpPr>
        <p:spPr>
          <a:xfrm>
            <a:off x="1593011" y="4907756"/>
            <a:ext cx="9144000" cy="1655762"/>
          </a:xfrm>
        </p:spPr>
        <p:txBody>
          <a:bodyPr/>
          <a:lstStyle/>
          <a:p>
            <a:r>
              <a:rPr lang="en-US" altLang="zh-CN" dirty="0"/>
              <a:t>Yucheng Zhu CS207 Final Project</a:t>
            </a:r>
          </a:p>
          <a:p>
            <a:r>
              <a:rPr lang="en-US" altLang="zh-CN" dirty="0">
                <a:hlinkClick r:id="rId3"/>
              </a:rPr>
              <a:t>https://github.com/pipipig-yz/Auto-Fencing-Referee/tree/master</a:t>
            </a:r>
            <a:endParaRPr lang="zh-CN" altLang="en-US" dirty="0"/>
          </a:p>
        </p:txBody>
      </p:sp>
    </p:spTree>
    <p:extLst>
      <p:ext uri="{BB962C8B-B14F-4D97-AF65-F5344CB8AC3E}">
        <p14:creationId xmlns:p14="http://schemas.microsoft.com/office/powerpoint/2010/main" val="2115985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8B57CA2-53E2-B58C-3E77-DCA39E3AE8C5}"/>
              </a:ext>
            </a:extLst>
          </p:cNvPr>
          <p:cNvSpPr>
            <a:spLocks noGrp="1"/>
          </p:cNvSpPr>
          <p:nvPr>
            <p:ph type="title"/>
          </p:nvPr>
        </p:nvSpPr>
        <p:spPr/>
        <p:txBody>
          <a:bodyPr>
            <a:normAutofit/>
          </a:bodyPr>
          <a:lstStyle/>
          <a:p>
            <a:r>
              <a:rPr lang="en-US" altLang="zh-CN" sz="3600" dirty="0"/>
              <a:t>Preliminary: how fencing referee judge double hit</a:t>
            </a:r>
            <a:endParaRPr lang="zh-CN" altLang="en-US" sz="3600" dirty="0"/>
          </a:p>
        </p:txBody>
      </p:sp>
      <p:sp>
        <p:nvSpPr>
          <p:cNvPr id="3" name="内容占位符 2">
            <a:extLst>
              <a:ext uri="{FF2B5EF4-FFF2-40B4-BE49-F238E27FC236}">
                <a16:creationId xmlns:a16="http://schemas.microsoft.com/office/drawing/2014/main" id="{26E155ED-6470-9618-D387-71CB67B827E3}"/>
              </a:ext>
            </a:extLst>
          </p:cNvPr>
          <p:cNvSpPr>
            <a:spLocks noGrp="1"/>
          </p:cNvSpPr>
          <p:nvPr>
            <p:ph idx="1"/>
          </p:nvPr>
        </p:nvSpPr>
        <p:spPr>
          <a:xfrm>
            <a:off x="838200" y="1825625"/>
            <a:ext cx="5413075" cy="4351338"/>
          </a:xfrm>
        </p:spPr>
        <p:txBody>
          <a:bodyPr/>
          <a:lstStyle/>
          <a:p>
            <a:r>
              <a:rPr lang="en-US" altLang="zh-CN" dirty="0"/>
              <a:t>Check whose arm extension (attack) first</a:t>
            </a:r>
          </a:p>
          <a:p>
            <a:r>
              <a:rPr lang="en-US" altLang="zh-CN" dirty="0"/>
              <a:t>Check whose lunge first</a:t>
            </a:r>
          </a:p>
          <a:p>
            <a:r>
              <a:rPr lang="en-US" altLang="zh-CN" dirty="0"/>
              <a:t>Check whose launch first</a:t>
            </a:r>
          </a:p>
          <a:p>
            <a:endParaRPr lang="en-US" altLang="zh-CN" dirty="0"/>
          </a:p>
          <a:p>
            <a:pPr marL="0" indent="0">
              <a:buNone/>
            </a:pPr>
            <a:r>
              <a:rPr lang="en-US" altLang="zh-CN" dirty="0"/>
              <a:t>But saber is too fast, everything is  done in 1 seconds. </a:t>
            </a:r>
          </a:p>
          <a:p>
            <a:pPr marL="0" indent="0">
              <a:buNone/>
            </a:pPr>
            <a:r>
              <a:rPr lang="en-US" altLang="zh-CN" dirty="0"/>
              <a:t>Even if the referee have the slow motion, it is still hard to judge</a:t>
            </a:r>
            <a:endParaRPr lang="zh-CN" altLang="en-US" dirty="0"/>
          </a:p>
        </p:txBody>
      </p:sp>
      <p:pic>
        <p:nvPicPr>
          <p:cNvPr id="5" name="同时1">
            <a:hlinkClick r:id="" action="ppaction://media"/>
            <a:extLst>
              <a:ext uri="{FF2B5EF4-FFF2-40B4-BE49-F238E27FC236}">
                <a16:creationId xmlns:a16="http://schemas.microsoft.com/office/drawing/2014/main" id="{1AAC8FD0-1A88-B6E8-DF59-F01BC8C9ECD7}"/>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6832121" y="2041634"/>
            <a:ext cx="4734584" cy="2682765"/>
          </a:xfrm>
          <a:prstGeom prst="rect">
            <a:avLst/>
          </a:prstGeom>
        </p:spPr>
      </p:pic>
    </p:spTree>
    <p:extLst>
      <p:ext uri="{BB962C8B-B14F-4D97-AF65-F5344CB8AC3E}">
        <p14:creationId xmlns:p14="http://schemas.microsoft.com/office/powerpoint/2010/main" val="19447325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4018"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5"/>
                </p:tgtEl>
              </p:cMediaNode>
            </p:video>
            <p:seq concurrent="1" nextAc="seek">
              <p:cTn id="8" restart="whenNotActive" fill="hold" evtFilter="cancelBubble" nodeType="interactiveSeq">
                <p:stCondLst>
                  <p:cond evt="onClick" delay="0">
                    <p:tgtEl>
                      <p:spTgt spid="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6F011E3-8F94-165D-3D50-2860B0AEF976}"/>
              </a:ext>
            </a:extLst>
          </p:cNvPr>
          <p:cNvSpPr>
            <a:spLocks noGrp="1"/>
          </p:cNvSpPr>
          <p:nvPr>
            <p:ph type="title"/>
          </p:nvPr>
        </p:nvSpPr>
        <p:spPr/>
        <p:txBody>
          <a:bodyPr/>
          <a:lstStyle/>
          <a:p>
            <a:r>
              <a:rPr lang="en-US" altLang="zh-CN" dirty="0"/>
              <a:t>Related work:</a:t>
            </a:r>
            <a:endParaRPr lang="zh-CN" altLang="en-US" dirty="0"/>
          </a:p>
        </p:txBody>
      </p:sp>
      <p:sp>
        <p:nvSpPr>
          <p:cNvPr id="3" name="内容占位符 2">
            <a:extLst>
              <a:ext uri="{FF2B5EF4-FFF2-40B4-BE49-F238E27FC236}">
                <a16:creationId xmlns:a16="http://schemas.microsoft.com/office/drawing/2014/main" id="{BDD4D591-0B61-023A-6A31-F5F31F89B3D5}"/>
              </a:ext>
            </a:extLst>
          </p:cNvPr>
          <p:cNvSpPr>
            <a:spLocks noGrp="1"/>
          </p:cNvSpPr>
          <p:nvPr>
            <p:ph idx="1"/>
          </p:nvPr>
        </p:nvSpPr>
        <p:spPr>
          <a:xfrm>
            <a:off x="838200" y="1825625"/>
            <a:ext cx="6154947" cy="4351338"/>
          </a:xfrm>
        </p:spPr>
        <p:txBody>
          <a:bodyPr/>
          <a:lstStyle/>
          <a:p>
            <a:r>
              <a:rPr lang="en-US" altLang="zh-CN" dirty="0"/>
              <a:t> </a:t>
            </a:r>
            <a:r>
              <a:rPr lang="en-US" altLang="zh-CN" sz="1600" dirty="0"/>
              <a:t>Allez Go: Computer Vision and Audio Analysis for AI Fencing Referees</a:t>
            </a:r>
          </a:p>
          <a:p>
            <a:pPr lvl="1"/>
            <a:r>
              <a:rPr lang="en-US" altLang="zh-CN" sz="1200" dirty="0"/>
              <a:t>Multimodal audio-visual fusion for automated refereeing </a:t>
            </a:r>
          </a:p>
          <a:p>
            <a:pPr lvl="1"/>
            <a:r>
              <a:rPr lang="en-US" altLang="zh-CN" sz="1200" dirty="0"/>
              <a:t>First attempt to use audio cues instead of purely visual methods</a:t>
            </a:r>
          </a:p>
          <a:p>
            <a:pPr lvl="1"/>
            <a:r>
              <a:rPr lang="en-US" altLang="zh-CN" sz="1200" dirty="0"/>
              <a:t>Lightweight TCN-based temporal modeling</a:t>
            </a:r>
          </a:p>
          <a:p>
            <a:r>
              <a:rPr lang="en-US" altLang="zh-CN" sz="1600" dirty="0"/>
              <a:t>FERA: Foil Fencing Referee Assistant Using Pose-Based Multi-Label Move Recognition and Rule Reasoning</a:t>
            </a:r>
          </a:p>
          <a:p>
            <a:pPr lvl="1"/>
            <a:r>
              <a:rPr lang="en-US" altLang="zh-CN" sz="1200" dirty="0"/>
              <a:t>End-to-end priority reasoning pipeline (perception → action classification → rule inference) </a:t>
            </a:r>
          </a:p>
          <a:p>
            <a:pPr lvl="1"/>
            <a:r>
              <a:rPr lang="en-US" altLang="zh-CN" sz="1200" dirty="0"/>
              <a:t>Publicly released dataset and evaluation benchmark</a:t>
            </a:r>
          </a:p>
          <a:p>
            <a:pPr lvl="1"/>
            <a:r>
              <a:rPr lang="en-US" altLang="zh-CN" sz="1200" dirty="0"/>
              <a:t> First application of LLM-based reasoning to fencing refereeing rules</a:t>
            </a:r>
          </a:p>
          <a:p>
            <a:r>
              <a:rPr lang="en-US" altLang="zh-CN" sz="1600" dirty="0" err="1"/>
              <a:t>FenceNet</a:t>
            </a:r>
            <a:r>
              <a:rPr lang="en-US" altLang="zh-CN" sz="1600" dirty="0"/>
              <a:t>: Fine-Grained Footwork Recognition in Fencing</a:t>
            </a:r>
          </a:p>
          <a:p>
            <a:pPr lvl="1"/>
            <a:r>
              <a:rPr lang="en-US" altLang="zh-CN" sz="1200" dirty="0"/>
              <a:t>No wearable sensors required; relies solely on 2D pose data</a:t>
            </a:r>
          </a:p>
          <a:p>
            <a:pPr lvl="1"/>
            <a:r>
              <a:rPr lang="en-US" altLang="zh-CN" sz="1200" dirty="0"/>
              <a:t> </a:t>
            </a:r>
            <a:r>
              <a:rPr lang="en-US" altLang="zh-CN" sz="1200" dirty="0" err="1"/>
              <a:t>BiFenceNet</a:t>
            </a:r>
            <a:r>
              <a:rPr lang="en-US" altLang="zh-CN" sz="1200" dirty="0"/>
              <a:t> captures bidirectional temporal dynamics in movement </a:t>
            </a:r>
          </a:p>
          <a:p>
            <a:pPr lvl="1"/>
            <a:r>
              <a:rPr lang="en-US" altLang="zh-CN" sz="1200" dirty="0"/>
              <a:t>One of the earliest works enabling direct video-based fencing footwork recognition</a:t>
            </a:r>
          </a:p>
          <a:p>
            <a:pPr marL="342900" indent="-342900">
              <a:buFont typeface="+mj-lt"/>
              <a:buAutoNum type="arabicPeriod"/>
            </a:pPr>
            <a:endParaRPr lang="en-US" altLang="zh-CN" sz="1600" dirty="0"/>
          </a:p>
          <a:p>
            <a:endParaRPr lang="zh-CN" altLang="en-US" dirty="0"/>
          </a:p>
        </p:txBody>
      </p:sp>
      <p:pic>
        <p:nvPicPr>
          <p:cNvPr id="5" name="图片 4">
            <a:extLst>
              <a:ext uri="{FF2B5EF4-FFF2-40B4-BE49-F238E27FC236}">
                <a16:creationId xmlns:a16="http://schemas.microsoft.com/office/drawing/2014/main" id="{4B9D2A6A-4287-3BCB-EF85-1C4665383FFB}"/>
              </a:ext>
            </a:extLst>
          </p:cNvPr>
          <p:cNvPicPr>
            <a:picLocks noChangeAspect="1"/>
          </p:cNvPicPr>
          <p:nvPr/>
        </p:nvPicPr>
        <p:blipFill>
          <a:blip r:embed="rId3"/>
          <a:stretch>
            <a:fillRect/>
          </a:stretch>
        </p:blipFill>
        <p:spPr>
          <a:xfrm>
            <a:off x="7136921" y="1396930"/>
            <a:ext cx="4678735" cy="2752375"/>
          </a:xfrm>
          <a:prstGeom prst="rect">
            <a:avLst/>
          </a:prstGeom>
        </p:spPr>
      </p:pic>
      <p:sp>
        <p:nvSpPr>
          <p:cNvPr id="6" name="文本框 5">
            <a:extLst>
              <a:ext uri="{FF2B5EF4-FFF2-40B4-BE49-F238E27FC236}">
                <a16:creationId xmlns:a16="http://schemas.microsoft.com/office/drawing/2014/main" id="{A336028F-E5D2-10D5-1BA4-595D3E07767A}"/>
              </a:ext>
            </a:extLst>
          </p:cNvPr>
          <p:cNvSpPr txBox="1"/>
          <p:nvPr/>
        </p:nvSpPr>
        <p:spPr>
          <a:xfrm>
            <a:off x="8051321" y="4635260"/>
            <a:ext cx="2996241" cy="923330"/>
          </a:xfrm>
          <a:prstGeom prst="rect">
            <a:avLst/>
          </a:prstGeom>
          <a:noFill/>
        </p:spPr>
        <p:txBody>
          <a:bodyPr wrap="square" rtlCol="0">
            <a:spAutoFit/>
          </a:bodyPr>
          <a:lstStyle/>
          <a:p>
            <a:r>
              <a:rPr lang="en-US" altLang="zh-CN" dirty="0"/>
              <a:t>Allez Go: marking priority (attack) to help automated refereeing</a:t>
            </a:r>
            <a:endParaRPr lang="zh-CN" altLang="en-US" dirty="0"/>
          </a:p>
        </p:txBody>
      </p:sp>
    </p:spTree>
    <p:extLst>
      <p:ext uri="{BB962C8B-B14F-4D97-AF65-F5344CB8AC3E}">
        <p14:creationId xmlns:p14="http://schemas.microsoft.com/office/powerpoint/2010/main" val="37414529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C671FDC-36B5-C290-C842-0F193146B217}"/>
              </a:ext>
            </a:extLst>
          </p:cNvPr>
          <p:cNvSpPr>
            <a:spLocks noGrp="1"/>
          </p:cNvSpPr>
          <p:nvPr>
            <p:ph type="title"/>
          </p:nvPr>
        </p:nvSpPr>
        <p:spPr/>
        <p:txBody>
          <a:bodyPr/>
          <a:lstStyle/>
          <a:p>
            <a:r>
              <a:rPr lang="en-US" altLang="zh-CN" dirty="0"/>
              <a:t>Core Design: Temporal Segmentation</a:t>
            </a:r>
            <a:endParaRPr lang="zh-CN" altLang="en-US" dirty="0"/>
          </a:p>
        </p:txBody>
      </p:sp>
      <p:pic>
        <p:nvPicPr>
          <p:cNvPr id="7" name="内容占位符 6">
            <a:extLst>
              <a:ext uri="{FF2B5EF4-FFF2-40B4-BE49-F238E27FC236}">
                <a16:creationId xmlns:a16="http://schemas.microsoft.com/office/drawing/2014/main" id="{5D42C6DA-E60F-90B0-BE61-4B5F0317BF77}"/>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6583393" y="1830605"/>
            <a:ext cx="5448300" cy="3064668"/>
          </a:xfrm>
          <a:prstGeom prst="rect">
            <a:avLst/>
          </a:prstGeom>
        </p:spPr>
      </p:pic>
      <p:sp>
        <p:nvSpPr>
          <p:cNvPr id="8" name="文本框 7">
            <a:extLst>
              <a:ext uri="{FF2B5EF4-FFF2-40B4-BE49-F238E27FC236}">
                <a16:creationId xmlns:a16="http://schemas.microsoft.com/office/drawing/2014/main" id="{A9C5CE88-5F2D-3E85-B67F-318785BE00F1}"/>
              </a:ext>
            </a:extLst>
          </p:cNvPr>
          <p:cNvSpPr txBox="1"/>
          <p:nvPr/>
        </p:nvSpPr>
        <p:spPr>
          <a:xfrm>
            <a:off x="838200" y="1892060"/>
            <a:ext cx="4728713" cy="3139321"/>
          </a:xfrm>
          <a:prstGeom prst="rect">
            <a:avLst/>
          </a:prstGeom>
          <a:noFill/>
        </p:spPr>
        <p:txBody>
          <a:bodyPr wrap="square" rtlCol="0">
            <a:spAutoFit/>
          </a:bodyPr>
          <a:lstStyle/>
          <a:p>
            <a:pPr marL="285750" indent="-285750">
              <a:buFont typeface="Arial" panose="020B0604020202020204" pitchFamily="34" charset="0"/>
              <a:buChar char="•"/>
            </a:pPr>
            <a:r>
              <a:rPr lang="en-US" altLang="zh-CN" dirty="0"/>
              <a:t>Multimodal Event Monitoring</a:t>
            </a:r>
          </a:p>
          <a:p>
            <a:pPr marL="742950" lvl="1" indent="-285750">
              <a:buFont typeface="Arial" panose="020B0604020202020204" pitchFamily="34" charset="0"/>
              <a:buChar char="•"/>
            </a:pPr>
            <a:r>
              <a:rPr lang="en-US" altLang="zh-CN" dirty="0"/>
              <a:t>Audio: referee vocal commands (Allez ) and electronic scoring buzzer activations.</a:t>
            </a:r>
          </a:p>
          <a:p>
            <a:pPr marL="742950" lvl="1" indent="-285750">
              <a:buFont typeface="Arial" panose="020B0604020202020204" pitchFamily="34" charset="0"/>
              <a:buChar char="•"/>
            </a:pPr>
            <a:r>
              <a:rPr lang="en-US" altLang="zh-CN" dirty="0"/>
              <a:t>Vision: scoring apparatus indicator lights and athlete pose states</a:t>
            </a:r>
          </a:p>
          <a:p>
            <a:pPr marL="285750" indent="-285750">
              <a:buFont typeface="Arial" panose="020B0604020202020204" pitchFamily="34" charset="0"/>
              <a:buChar char="•"/>
            </a:pPr>
            <a:r>
              <a:rPr lang="en-US" altLang="zh-CN" dirty="0"/>
              <a:t>Figure selections</a:t>
            </a:r>
          </a:p>
          <a:p>
            <a:pPr marL="742950" lvl="1" indent="-285750">
              <a:buFont typeface="Arial" panose="020B0604020202020204" pitchFamily="34" charset="0"/>
              <a:buChar char="•"/>
            </a:pPr>
            <a:r>
              <a:rPr lang="en-US" altLang="zh-CN" dirty="0" err="1"/>
              <a:t>Piste</a:t>
            </a:r>
            <a:r>
              <a:rPr lang="en-US" altLang="zh-CN" dirty="0"/>
              <a:t>: The ground for fencing</a:t>
            </a:r>
          </a:p>
          <a:p>
            <a:pPr marL="742950" lvl="1" indent="-285750">
              <a:buFont typeface="Arial" panose="020B0604020202020204" pitchFamily="34" charset="0"/>
              <a:buChar char="•"/>
            </a:pPr>
            <a:r>
              <a:rPr lang="en-US" altLang="zh-CN" dirty="0"/>
              <a:t>Athletes: The biggest human body on the </a:t>
            </a:r>
            <a:r>
              <a:rPr lang="en-US" altLang="zh-CN" dirty="0" err="1"/>
              <a:t>piste</a:t>
            </a:r>
            <a:endParaRPr lang="en-US" altLang="zh-CN" dirty="0"/>
          </a:p>
          <a:p>
            <a:pPr marL="742950" lvl="1" indent="-285750">
              <a:buFont typeface="Arial" panose="020B0604020202020204" pitchFamily="34" charset="0"/>
              <a:buChar char="•"/>
            </a:pPr>
            <a:r>
              <a:rPr lang="en-US" altLang="zh-CN" dirty="0"/>
              <a:t>Score machine light: red or green</a:t>
            </a:r>
            <a:endParaRPr lang="zh-CN" altLang="en-US" dirty="0"/>
          </a:p>
        </p:txBody>
      </p:sp>
    </p:spTree>
    <p:extLst>
      <p:ext uri="{BB962C8B-B14F-4D97-AF65-F5344CB8AC3E}">
        <p14:creationId xmlns:p14="http://schemas.microsoft.com/office/powerpoint/2010/main" val="24006586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A361559-8DC1-5581-EF55-7709C21E28E6}"/>
              </a:ext>
            </a:extLst>
          </p:cNvPr>
          <p:cNvSpPr>
            <a:spLocks noGrp="1"/>
          </p:cNvSpPr>
          <p:nvPr>
            <p:ph type="title"/>
          </p:nvPr>
        </p:nvSpPr>
        <p:spPr/>
        <p:txBody>
          <a:bodyPr/>
          <a:lstStyle/>
          <a:p>
            <a:r>
              <a:rPr lang="en-US" altLang="zh-CN" dirty="0"/>
              <a:t>Core Design: Motion Detection</a:t>
            </a:r>
            <a:endParaRPr lang="zh-CN" altLang="en-US" dirty="0"/>
          </a:p>
        </p:txBody>
      </p:sp>
      <p:sp>
        <p:nvSpPr>
          <p:cNvPr id="3" name="内容占位符 2">
            <a:extLst>
              <a:ext uri="{FF2B5EF4-FFF2-40B4-BE49-F238E27FC236}">
                <a16:creationId xmlns:a16="http://schemas.microsoft.com/office/drawing/2014/main" id="{6024713C-1B27-837E-887F-5D803970BC6D}"/>
              </a:ext>
            </a:extLst>
          </p:cNvPr>
          <p:cNvSpPr>
            <a:spLocks noGrp="1"/>
          </p:cNvSpPr>
          <p:nvPr>
            <p:ph idx="1"/>
          </p:nvPr>
        </p:nvSpPr>
        <p:spPr/>
        <p:txBody>
          <a:bodyPr>
            <a:normAutofit lnSpcReduction="10000"/>
          </a:bodyPr>
          <a:lstStyle/>
          <a:p>
            <a:r>
              <a:rPr lang="en-US" altLang="zh-CN" dirty="0"/>
              <a:t>Baseline detection</a:t>
            </a:r>
          </a:p>
          <a:p>
            <a:pPr lvl="1"/>
            <a:r>
              <a:rPr lang="en-US" altLang="zh-CN" dirty="0"/>
              <a:t>athlete’s static on-guard joint angles serving as the reference zero-point for all subsequent motion thresholds</a:t>
            </a:r>
          </a:p>
          <a:p>
            <a:r>
              <a:rPr lang="en-US" altLang="zh-CN" dirty="0"/>
              <a:t>Lunge detection</a:t>
            </a:r>
          </a:p>
          <a:p>
            <a:pPr lvl="1"/>
            <a:r>
              <a:rPr lang="en-US" altLang="zh-CN" dirty="0"/>
              <a:t>the primary offensive move-</a:t>
            </a:r>
            <a:r>
              <a:rPr lang="en-US" altLang="zh-CN" dirty="0" err="1"/>
              <a:t>ment</a:t>
            </a:r>
            <a:r>
              <a:rPr lang="en-US" altLang="zh-CN" dirty="0"/>
              <a:t> and the clearest physical expression of an attack on foot</a:t>
            </a:r>
          </a:p>
          <a:p>
            <a:r>
              <a:rPr lang="en-US" altLang="zh-CN" dirty="0"/>
              <a:t>Attack detection</a:t>
            </a:r>
          </a:p>
          <a:p>
            <a:pPr lvl="1"/>
            <a:r>
              <a:rPr lang="en-US" altLang="zh-CN" dirty="0"/>
              <a:t>Joint angles on arm and shoulder</a:t>
            </a:r>
          </a:p>
          <a:p>
            <a:r>
              <a:rPr lang="en-US" altLang="zh-CN" dirty="0"/>
              <a:t>Pause detection</a:t>
            </a:r>
          </a:p>
          <a:p>
            <a:pPr lvl="1"/>
            <a:r>
              <a:rPr lang="en-US" altLang="zh-CN" dirty="0"/>
              <a:t>A pause event signals that an athlete’s forward action </a:t>
            </a:r>
            <a:r>
              <a:rPr lang="en-US" altLang="zh-CN" dirty="0" err="1"/>
              <a:t>hasbeen</a:t>
            </a:r>
            <a:r>
              <a:rPr lang="en-US" altLang="zh-CN" dirty="0"/>
              <a:t> interrupted after launch, causing loss of priority</a:t>
            </a:r>
            <a:endParaRPr lang="zh-CN" altLang="en-US" dirty="0"/>
          </a:p>
        </p:txBody>
      </p:sp>
    </p:spTree>
    <p:extLst>
      <p:ext uri="{BB962C8B-B14F-4D97-AF65-F5344CB8AC3E}">
        <p14:creationId xmlns:p14="http://schemas.microsoft.com/office/powerpoint/2010/main" val="42674022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39C76901-35C7-C6D8-7FA5-C0E763C0BB11}"/>
              </a:ext>
            </a:extLst>
          </p:cNvPr>
          <p:cNvPicPr>
            <a:picLocks noChangeAspect="1"/>
          </p:cNvPicPr>
          <p:nvPr/>
        </p:nvPicPr>
        <p:blipFill>
          <a:blip r:embed="rId3"/>
          <a:stretch>
            <a:fillRect/>
          </a:stretch>
        </p:blipFill>
        <p:spPr>
          <a:xfrm>
            <a:off x="2392392" y="1275261"/>
            <a:ext cx="8202460" cy="5370632"/>
          </a:xfrm>
          <a:prstGeom prst="rect">
            <a:avLst/>
          </a:prstGeom>
        </p:spPr>
      </p:pic>
      <p:sp>
        <p:nvSpPr>
          <p:cNvPr id="6" name="弧形 5">
            <a:extLst>
              <a:ext uri="{FF2B5EF4-FFF2-40B4-BE49-F238E27FC236}">
                <a16:creationId xmlns:a16="http://schemas.microsoft.com/office/drawing/2014/main" id="{5EC1CF60-FD40-AC24-F574-6B4CDB547BE3}"/>
              </a:ext>
            </a:extLst>
          </p:cNvPr>
          <p:cNvSpPr/>
          <p:nvPr/>
        </p:nvSpPr>
        <p:spPr>
          <a:xfrm rot="5643524">
            <a:off x="5124704" y="4448481"/>
            <a:ext cx="626400" cy="645993"/>
          </a:xfrm>
          <a:prstGeom prst="arc">
            <a:avLst/>
          </a:prstGeom>
          <a:ln w="57150">
            <a:solidFill>
              <a:schemeClr val="accent2">
                <a:lumMod val="75000"/>
              </a:schemeClr>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zh-CN" altLang="en-US"/>
          </a:p>
        </p:txBody>
      </p:sp>
      <p:sp>
        <p:nvSpPr>
          <p:cNvPr id="7" name="文本框 6">
            <a:extLst>
              <a:ext uri="{FF2B5EF4-FFF2-40B4-BE49-F238E27FC236}">
                <a16:creationId xmlns:a16="http://schemas.microsoft.com/office/drawing/2014/main" id="{C718AC96-09C7-D6F4-58FB-A9CA9AB34BBB}"/>
              </a:ext>
            </a:extLst>
          </p:cNvPr>
          <p:cNvSpPr txBox="1"/>
          <p:nvPr/>
        </p:nvSpPr>
        <p:spPr>
          <a:xfrm>
            <a:off x="2886506" y="4018310"/>
            <a:ext cx="2960104" cy="646331"/>
          </a:xfrm>
          <a:prstGeom prst="rect">
            <a:avLst/>
          </a:prstGeom>
          <a:noFill/>
        </p:spPr>
        <p:txBody>
          <a:bodyPr wrap="square" rtlCol="0">
            <a:spAutoFit/>
          </a:bodyPr>
          <a:lstStyle/>
          <a:p>
            <a:r>
              <a:rPr lang="en-US" altLang="zh-CN" dirty="0">
                <a:highlight>
                  <a:srgbClr val="FFFF00"/>
                </a:highlight>
              </a:rPr>
              <a:t>Angle of the front knee joint</a:t>
            </a:r>
          </a:p>
          <a:p>
            <a:pPr algn="ctr"/>
            <a:r>
              <a:rPr lang="en-US" altLang="zh-CN" dirty="0">
                <a:highlight>
                  <a:srgbClr val="FFFF00"/>
                </a:highlight>
              </a:rPr>
              <a:t>&gt;150°</a:t>
            </a:r>
            <a:endParaRPr lang="zh-CN" altLang="en-US" dirty="0">
              <a:highlight>
                <a:srgbClr val="FFFF00"/>
              </a:highlight>
            </a:endParaRPr>
          </a:p>
        </p:txBody>
      </p:sp>
      <p:cxnSp>
        <p:nvCxnSpPr>
          <p:cNvPr id="9" name="直接箭头连接符 8">
            <a:extLst>
              <a:ext uri="{FF2B5EF4-FFF2-40B4-BE49-F238E27FC236}">
                <a16:creationId xmlns:a16="http://schemas.microsoft.com/office/drawing/2014/main" id="{FC6FFC4C-9578-B0DE-F0C6-0AD064AC182A}"/>
              </a:ext>
            </a:extLst>
          </p:cNvPr>
          <p:cNvCxnSpPr>
            <a:cxnSpLocks/>
          </p:cNvCxnSpPr>
          <p:nvPr/>
        </p:nvCxnSpPr>
        <p:spPr>
          <a:xfrm>
            <a:off x="5013082" y="4523181"/>
            <a:ext cx="486555" cy="305675"/>
          </a:xfrm>
          <a:prstGeom prst="straightConnector1">
            <a:avLst/>
          </a:prstGeom>
          <a:ln w="38100">
            <a:solidFill>
              <a:schemeClr val="accent2">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11" name="直接连接符 10">
            <a:extLst>
              <a:ext uri="{FF2B5EF4-FFF2-40B4-BE49-F238E27FC236}">
                <a16:creationId xmlns:a16="http://schemas.microsoft.com/office/drawing/2014/main" id="{2D20B825-1954-ACD9-CBEA-0DF707B80B4D}"/>
              </a:ext>
            </a:extLst>
          </p:cNvPr>
          <p:cNvCxnSpPr>
            <a:cxnSpLocks/>
          </p:cNvCxnSpPr>
          <p:nvPr/>
        </p:nvCxnSpPr>
        <p:spPr>
          <a:xfrm>
            <a:off x="4899804" y="5580124"/>
            <a:ext cx="3956649" cy="253130"/>
          </a:xfrm>
          <a:prstGeom prst="line">
            <a:avLst/>
          </a:prstGeom>
          <a:ln>
            <a:solidFill>
              <a:schemeClr val="accent6">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12" name="文本框 11">
            <a:extLst>
              <a:ext uri="{FF2B5EF4-FFF2-40B4-BE49-F238E27FC236}">
                <a16:creationId xmlns:a16="http://schemas.microsoft.com/office/drawing/2014/main" id="{4C238EFB-A2A4-7D05-9280-F3511AF20A59}"/>
              </a:ext>
            </a:extLst>
          </p:cNvPr>
          <p:cNvSpPr txBox="1"/>
          <p:nvPr/>
        </p:nvSpPr>
        <p:spPr>
          <a:xfrm>
            <a:off x="4497107" y="5833254"/>
            <a:ext cx="4761911" cy="369332"/>
          </a:xfrm>
          <a:prstGeom prst="rect">
            <a:avLst/>
          </a:prstGeom>
          <a:noFill/>
        </p:spPr>
        <p:txBody>
          <a:bodyPr wrap="square" rtlCol="0">
            <a:spAutoFit/>
          </a:bodyPr>
          <a:lstStyle/>
          <a:p>
            <a:r>
              <a:rPr lang="en-US" altLang="zh-CN" dirty="0">
                <a:highlight>
                  <a:srgbClr val="FFFF00"/>
                </a:highlight>
              </a:rPr>
              <a:t>Width between two feet&gt;2*width baseline </a:t>
            </a:r>
            <a:endParaRPr lang="zh-CN" altLang="en-US" dirty="0">
              <a:highlight>
                <a:srgbClr val="FFFF00"/>
              </a:highlight>
            </a:endParaRPr>
          </a:p>
        </p:txBody>
      </p:sp>
      <p:sp>
        <p:nvSpPr>
          <p:cNvPr id="13" name="弧形 12">
            <a:extLst>
              <a:ext uri="{FF2B5EF4-FFF2-40B4-BE49-F238E27FC236}">
                <a16:creationId xmlns:a16="http://schemas.microsoft.com/office/drawing/2014/main" id="{3333C8BE-C56F-988C-00F1-543AD0CD6786}"/>
              </a:ext>
            </a:extLst>
          </p:cNvPr>
          <p:cNvSpPr/>
          <p:nvPr/>
        </p:nvSpPr>
        <p:spPr>
          <a:xfrm rot="8810615">
            <a:off x="6641537" y="3924173"/>
            <a:ext cx="491387" cy="420389"/>
          </a:xfrm>
          <a:prstGeom prst="arc">
            <a:avLst>
              <a:gd name="adj1" fmla="val 15829664"/>
              <a:gd name="adj2" fmla="val 0"/>
            </a:avLst>
          </a:prstGeom>
          <a:ln w="57150">
            <a:solidFill>
              <a:schemeClr val="accent2">
                <a:lumMod val="75000"/>
              </a:schemeClr>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zh-CN" altLang="en-US"/>
          </a:p>
        </p:txBody>
      </p:sp>
      <p:cxnSp>
        <p:nvCxnSpPr>
          <p:cNvPr id="15" name="直接连接符 14">
            <a:extLst>
              <a:ext uri="{FF2B5EF4-FFF2-40B4-BE49-F238E27FC236}">
                <a16:creationId xmlns:a16="http://schemas.microsoft.com/office/drawing/2014/main" id="{6D2B8AB9-9124-61BD-920E-29CD01DB4F3E}"/>
              </a:ext>
            </a:extLst>
          </p:cNvPr>
          <p:cNvCxnSpPr>
            <a:cxnSpLocks/>
          </p:cNvCxnSpPr>
          <p:nvPr/>
        </p:nvCxnSpPr>
        <p:spPr>
          <a:xfrm flipV="1">
            <a:off x="6096000" y="4152127"/>
            <a:ext cx="808940" cy="423599"/>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16" name="直接连接符 15">
            <a:extLst>
              <a:ext uri="{FF2B5EF4-FFF2-40B4-BE49-F238E27FC236}">
                <a16:creationId xmlns:a16="http://schemas.microsoft.com/office/drawing/2014/main" id="{FB5B10B2-5CA8-09D1-A3AD-4E62CD60E7F3}"/>
              </a:ext>
            </a:extLst>
          </p:cNvPr>
          <p:cNvCxnSpPr>
            <a:cxnSpLocks/>
          </p:cNvCxnSpPr>
          <p:nvPr/>
        </p:nvCxnSpPr>
        <p:spPr>
          <a:xfrm>
            <a:off x="6904940" y="4149271"/>
            <a:ext cx="653184" cy="616236"/>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22" name="文本框 21">
            <a:extLst>
              <a:ext uri="{FF2B5EF4-FFF2-40B4-BE49-F238E27FC236}">
                <a16:creationId xmlns:a16="http://schemas.microsoft.com/office/drawing/2014/main" id="{41361BFA-0B4F-5EBA-C9FA-B15AFFDA3CCE}"/>
              </a:ext>
            </a:extLst>
          </p:cNvPr>
          <p:cNvSpPr txBox="1"/>
          <p:nvPr/>
        </p:nvSpPr>
        <p:spPr>
          <a:xfrm>
            <a:off x="7055638" y="3396103"/>
            <a:ext cx="2111366" cy="646331"/>
          </a:xfrm>
          <a:prstGeom prst="rect">
            <a:avLst/>
          </a:prstGeom>
          <a:noFill/>
        </p:spPr>
        <p:txBody>
          <a:bodyPr wrap="square" rtlCol="0">
            <a:spAutoFit/>
          </a:bodyPr>
          <a:lstStyle/>
          <a:p>
            <a:r>
              <a:rPr lang="en-US" altLang="zh-CN" dirty="0">
                <a:highlight>
                  <a:srgbClr val="FFFF00"/>
                </a:highlight>
              </a:rPr>
              <a:t>Angle inter-thigh</a:t>
            </a:r>
          </a:p>
          <a:p>
            <a:pPr algn="ctr"/>
            <a:r>
              <a:rPr lang="en-US" altLang="zh-CN" dirty="0">
                <a:highlight>
                  <a:srgbClr val="FFFF00"/>
                </a:highlight>
              </a:rPr>
              <a:t>&gt;120°</a:t>
            </a:r>
            <a:endParaRPr lang="zh-CN" altLang="en-US" dirty="0">
              <a:highlight>
                <a:srgbClr val="FFFF00"/>
              </a:highlight>
            </a:endParaRPr>
          </a:p>
        </p:txBody>
      </p:sp>
      <p:cxnSp>
        <p:nvCxnSpPr>
          <p:cNvPr id="23" name="直接箭头连接符 22">
            <a:extLst>
              <a:ext uri="{FF2B5EF4-FFF2-40B4-BE49-F238E27FC236}">
                <a16:creationId xmlns:a16="http://schemas.microsoft.com/office/drawing/2014/main" id="{6DD3C5E3-6F40-9951-3365-DF6074FF4721}"/>
              </a:ext>
            </a:extLst>
          </p:cNvPr>
          <p:cNvCxnSpPr>
            <a:cxnSpLocks/>
          </p:cNvCxnSpPr>
          <p:nvPr/>
        </p:nvCxnSpPr>
        <p:spPr>
          <a:xfrm flipH="1">
            <a:off x="7013878" y="3792778"/>
            <a:ext cx="544246" cy="341589"/>
          </a:xfrm>
          <a:prstGeom prst="straightConnector1">
            <a:avLst/>
          </a:prstGeom>
          <a:ln w="38100">
            <a:solidFill>
              <a:schemeClr val="accent2">
                <a:lumMod val="7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49" name="文本框 48">
            <a:extLst>
              <a:ext uri="{FF2B5EF4-FFF2-40B4-BE49-F238E27FC236}">
                <a16:creationId xmlns:a16="http://schemas.microsoft.com/office/drawing/2014/main" id="{D06044B3-5A63-569E-0D77-DEDB021C5F46}"/>
              </a:ext>
            </a:extLst>
          </p:cNvPr>
          <p:cNvSpPr txBox="1"/>
          <p:nvPr/>
        </p:nvSpPr>
        <p:spPr>
          <a:xfrm>
            <a:off x="1201948" y="162150"/>
            <a:ext cx="5088252" cy="923330"/>
          </a:xfrm>
          <a:prstGeom prst="rect">
            <a:avLst/>
          </a:prstGeom>
          <a:noFill/>
        </p:spPr>
        <p:txBody>
          <a:bodyPr wrap="none" rtlCol="0">
            <a:spAutoFit/>
          </a:bodyPr>
          <a:lstStyle/>
          <a:p>
            <a:r>
              <a:rPr lang="en-US" altLang="zh-CN" sz="5400" dirty="0"/>
              <a:t>Lunge Detection</a:t>
            </a:r>
            <a:endParaRPr lang="zh-CN" altLang="en-US" sz="5400" dirty="0"/>
          </a:p>
        </p:txBody>
      </p:sp>
    </p:spTree>
    <p:extLst>
      <p:ext uri="{BB962C8B-B14F-4D97-AF65-F5344CB8AC3E}">
        <p14:creationId xmlns:p14="http://schemas.microsoft.com/office/powerpoint/2010/main" val="41687508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F3972B4-3674-4E07-8CE1-7389BDDFD84B}"/>
              </a:ext>
            </a:extLst>
          </p:cNvPr>
          <p:cNvSpPr>
            <a:spLocks noGrp="1"/>
          </p:cNvSpPr>
          <p:nvPr>
            <p:ph type="title"/>
          </p:nvPr>
        </p:nvSpPr>
        <p:spPr/>
        <p:txBody>
          <a:bodyPr/>
          <a:lstStyle/>
          <a:p>
            <a:r>
              <a:rPr lang="en-US" altLang="zh-CN" dirty="0"/>
              <a:t>Attack detection</a:t>
            </a:r>
            <a:endParaRPr lang="zh-CN" altLang="en-US" dirty="0"/>
          </a:p>
        </p:txBody>
      </p:sp>
      <p:pic>
        <p:nvPicPr>
          <p:cNvPr id="5" name="内容占位符 4">
            <a:extLst>
              <a:ext uri="{FF2B5EF4-FFF2-40B4-BE49-F238E27FC236}">
                <a16:creationId xmlns:a16="http://schemas.microsoft.com/office/drawing/2014/main" id="{E1ED7D58-3B5B-CE35-43AD-000D6E2CC725}"/>
              </a:ext>
            </a:extLst>
          </p:cNvPr>
          <p:cNvPicPr>
            <a:picLocks noGrp="1" noChangeAspect="1"/>
          </p:cNvPicPr>
          <p:nvPr>
            <p:ph idx="1"/>
          </p:nvPr>
        </p:nvPicPr>
        <p:blipFill>
          <a:blip r:embed="rId3"/>
          <a:stretch>
            <a:fillRect/>
          </a:stretch>
        </p:blipFill>
        <p:spPr>
          <a:xfrm>
            <a:off x="3186697" y="1772374"/>
            <a:ext cx="5811373" cy="4351338"/>
          </a:xfrm>
          <a:prstGeom prst="rect">
            <a:avLst/>
          </a:prstGeom>
        </p:spPr>
      </p:pic>
      <p:sp>
        <p:nvSpPr>
          <p:cNvPr id="6" name="弧形 5">
            <a:extLst>
              <a:ext uri="{FF2B5EF4-FFF2-40B4-BE49-F238E27FC236}">
                <a16:creationId xmlns:a16="http://schemas.microsoft.com/office/drawing/2014/main" id="{5DFF1380-4C55-E183-039D-0EBB8EB2A73C}"/>
              </a:ext>
            </a:extLst>
          </p:cNvPr>
          <p:cNvSpPr/>
          <p:nvPr/>
        </p:nvSpPr>
        <p:spPr>
          <a:xfrm rot="16768597">
            <a:off x="5789753" y="3660917"/>
            <a:ext cx="505081" cy="445655"/>
          </a:xfrm>
          <a:prstGeom prst="arc">
            <a:avLst>
              <a:gd name="adj1" fmla="val 17360091"/>
              <a:gd name="adj2" fmla="val 0"/>
            </a:avLst>
          </a:prstGeom>
          <a:ln>
            <a:solidFill>
              <a:srgbClr val="FFFF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 name="文本框 6">
            <a:extLst>
              <a:ext uri="{FF2B5EF4-FFF2-40B4-BE49-F238E27FC236}">
                <a16:creationId xmlns:a16="http://schemas.microsoft.com/office/drawing/2014/main" id="{4AC20C65-1CCF-D5DB-974F-C66530D23C3F}"/>
              </a:ext>
            </a:extLst>
          </p:cNvPr>
          <p:cNvSpPr txBox="1"/>
          <p:nvPr/>
        </p:nvSpPr>
        <p:spPr>
          <a:xfrm>
            <a:off x="4136511" y="3171102"/>
            <a:ext cx="2981907" cy="369332"/>
          </a:xfrm>
          <a:prstGeom prst="rect">
            <a:avLst/>
          </a:prstGeom>
          <a:noFill/>
        </p:spPr>
        <p:txBody>
          <a:bodyPr wrap="square" rtlCol="0">
            <a:spAutoFit/>
          </a:bodyPr>
          <a:lstStyle/>
          <a:p>
            <a:r>
              <a:rPr lang="en-US" altLang="zh-CN" dirty="0">
                <a:highlight>
                  <a:srgbClr val="FFFF00"/>
                </a:highlight>
              </a:rPr>
              <a:t>Elbow angle&gt;140°</a:t>
            </a:r>
            <a:endParaRPr lang="zh-CN" altLang="en-US" dirty="0">
              <a:highlight>
                <a:srgbClr val="FFFF00"/>
              </a:highlight>
            </a:endParaRPr>
          </a:p>
        </p:txBody>
      </p:sp>
      <p:cxnSp>
        <p:nvCxnSpPr>
          <p:cNvPr id="8" name="直接箭头连接符 7">
            <a:extLst>
              <a:ext uri="{FF2B5EF4-FFF2-40B4-BE49-F238E27FC236}">
                <a16:creationId xmlns:a16="http://schemas.microsoft.com/office/drawing/2014/main" id="{4EFEFB04-D3B0-D830-145A-90BE3C2DA3E9}"/>
              </a:ext>
            </a:extLst>
          </p:cNvPr>
          <p:cNvCxnSpPr>
            <a:cxnSpLocks/>
          </p:cNvCxnSpPr>
          <p:nvPr/>
        </p:nvCxnSpPr>
        <p:spPr>
          <a:xfrm>
            <a:off x="5509711" y="3540434"/>
            <a:ext cx="360470" cy="115058"/>
          </a:xfrm>
          <a:prstGeom prst="straightConnector1">
            <a:avLst/>
          </a:prstGeom>
          <a:ln w="38100">
            <a:solidFill>
              <a:schemeClr val="accent2">
                <a:lumMod val="7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11" name="弧形 10">
            <a:extLst>
              <a:ext uri="{FF2B5EF4-FFF2-40B4-BE49-F238E27FC236}">
                <a16:creationId xmlns:a16="http://schemas.microsoft.com/office/drawing/2014/main" id="{AF90E2A5-46FD-300C-2651-E726068D9C94}"/>
              </a:ext>
            </a:extLst>
          </p:cNvPr>
          <p:cNvSpPr/>
          <p:nvPr/>
        </p:nvSpPr>
        <p:spPr>
          <a:xfrm rot="8137291">
            <a:off x="6178683" y="3048454"/>
            <a:ext cx="439506" cy="426044"/>
          </a:xfrm>
          <a:prstGeom prst="arc">
            <a:avLst>
              <a:gd name="adj1" fmla="val 19436988"/>
              <a:gd name="adj2" fmla="val 0"/>
            </a:avLst>
          </a:prstGeom>
          <a:ln>
            <a:solidFill>
              <a:srgbClr val="FFFF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2" name="文本框 11">
            <a:extLst>
              <a:ext uri="{FF2B5EF4-FFF2-40B4-BE49-F238E27FC236}">
                <a16:creationId xmlns:a16="http://schemas.microsoft.com/office/drawing/2014/main" id="{2E072FF4-8281-0698-D6D8-0F2462F995DE}"/>
              </a:ext>
            </a:extLst>
          </p:cNvPr>
          <p:cNvSpPr txBox="1"/>
          <p:nvPr/>
        </p:nvSpPr>
        <p:spPr>
          <a:xfrm>
            <a:off x="5964199" y="3883744"/>
            <a:ext cx="2981907" cy="369332"/>
          </a:xfrm>
          <a:prstGeom prst="rect">
            <a:avLst/>
          </a:prstGeom>
          <a:noFill/>
        </p:spPr>
        <p:txBody>
          <a:bodyPr wrap="square" rtlCol="0">
            <a:spAutoFit/>
          </a:bodyPr>
          <a:lstStyle/>
          <a:p>
            <a:r>
              <a:rPr lang="en-US" altLang="zh-CN" dirty="0">
                <a:highlight>
                  <a:srgbClr val="FFFF00"/>
                </a:highlight>
              </a:rPr>
              <a:t>Shoulder angle&gt;60°</a:t>
            </a:r>
            <a:endParaRPr lang="zh-CN" altLang="en-US" dirty="0">
              <a:highlight>
                <a:srgbClr val="FFFF00"/>
              </a:highlight>
            </a:endParaRPr>
          </a:p>
        </p:txBody>
      </p:sp>
      <p:cxnSp>
        <p:nvCxnSpPr>
          <p:cNvPr id="13" name="直接箭头连接符 12">
            <a:extLst>
              <a:ext uri="{FF2B5EF4-FFF2-40B4-BE49-F238E27FC236}">
                <a16:creationId xmlns:a16="http://schemas.microsoft.com/office/drawing/2014/main" id="{940EC9E6-AE83-B57B-DF4A-B65659C36484}"/>
              </a:ext>
            </a:extLst>
          </p:cNvPr>
          <p:cNvCxnSpPr>
            <a:cxnSpLocks/>
          </p:cNvCxnSpPr>
          <p:nvPr/>
        </p:nvCxnSpPr>
        <p:spPr>
          <a:xfrm flipH="1" flipV="1">
            <a:off x="6303660" y="3490739"/>
            <a:ext cx="354106" cy="419996"/>
          </a:xfrm>
          <a:prstGeom prst="straightConnector1">
            <a:avLst/>
          </a:prstGeom>
          <a:ln w="38100">
            <a:solidFill>
              <a:schemeClr val="accent2">
                <a:lumMod val="75000"/>
              </a:schemeClr>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128793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1C017A8-63E3-C8E5-C610-FED9CF1B1516}"/>
              </a:ext>
            </a:extLst>
          </p:cNvPr>
          <p:cNvSpPr>
            <a:spLocks noGrp="1"/>
          </p:cNvSpPr>
          <p:nvPr>
            <p:ph type="title"/>
          </p:nvPr>
        </p:nvSpPr>
        <p:spPr/>
        <p:txBody>
          <a:bodyPr/>
          <a:lstStyle/>
          <a:p>
            <a:r>
              <a:rPr lang="en-US" altLang="zh-CN" dirty="0"/>
              <a:t>Core Design: Priority Decision Workflow</a:t>
            </a:r>
            <a:endParaRPr lang="zh-CN" altLang="en-US" dirty="0"/>
          </a:p>
        </p:txBody>
      </p:sp>
      <p:pic>
        <p:nvPicPr>
          <p:cNvPr id="5" name="内容占位符 4">
            <a:extLst>
              <a:ext uri="{FF2B5EF4-FFF2-40B4-BE49-F238E27FC236}">
                <a16:creationId xmlns:a16="http://schemas.microsoft.com/office/drawing/2014/main" id="{B464A9F7-99CF-89E3-7692-33940C483CFC}"/>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6377796" y="1624939"/>
            <a:ext cx="5251184" cy="4867936"/>
          </a:xfrm>
          <a:prstGeom prst="rect">
            <a:avLst/>
          </a:prstGeom>
        </p:spPr>
      </p:pic>
      <p:sp>
        <p:nvSpPr>
          <p:cNvPr id="7" name="文本框 6">
            <a:extLst>
              <a:ext uri="{FF2B5EF4-FFF2-40B4-BE49-F238E27FC236}">
                <a16:creationId xmlns:a16="http://schemas.microsoft.com/office/drawing/2014/main" id="{9B0DF22A-BE48-1DE2-88E9-138A17D4BCA6}"/>
              </a:ext>
            </a:extLst>
          </p:cNvPr>
          <p:cNvSpPr txBox="1"/>
          <p:nvPr/>
        </p:nvSpPr>
        <p:spPr>
          <a:xfrm>
            <a:off x="838200" y="2012830"/>
            <a:ext cx="5539596" cy="3970318"/>
          </a:xfrm>
          <a:prstGeom prst="rect">
            <a:avLst/>
          </a:prstGeom>
          <a:noFill/>
        </p:spPr>
        <p:txBody>
          <a:bodyPr wrap="square" rtlCol="0">
            <a:spAutoFit/>
          </a:bodyPr>
          <a:lstStyle/>
          <a:p>
            <a:pPr marL="285750" indent="-285750">
              <a:buFont typeface="Arial" panose="020B0604020202020204" pitchFamily="34" charset="0"/>
              <a:buChar char="•"/>
            </a:pPr>
            <a:r>
              <a:rPr lang="en-US" altLang="zh-CN" dirty="0"/>
              <a:t>It follows up with the most resent fencing rules</a:t>
            </a:r>
          </a:p>
          <a:p>
            <a:pPr marL="285750" indent="-285750">
              <a:buFont typeface="Arial" panose="020B0604020202020204" pitchFamily="34" charset="0"/>
              <a:buChar char="•"/>
            </a:pPr>
            <a:r>
              <a:rPr lang="en-US" altLang="zh-CN" dirty="0"/>
              <a:t>Step 1 — Arm Onset. The algorithm first compares the arm-onset times of both fencers (the time of attack). Threshold=2 frame</a:t>
            </a:r>
          </a:p>
          <a:p>
            <a:pPr marL="285750" indent="-285750">
              <a:buFont typeface="Arial" panose="020B0604020202020204" pitchFamily="34" charset="0"/>
              <a:buChar char="•"/>
            </a:pPr>
            <a:r>
              <a:rPr lang="en-US" altLang="zh-CN" dirty="0"/>
              <a:t>Step 2 — Lunge Onset. Step 2 compares lunge-onset times. A lunge represents the committed forward displacement of the body. Threshold=2 frame</a:t>
            </a:r>
          </a:p>
          <a:p>
            <a:pPr marL="285750" indent="-285750">
              <a:buFont typeface="Arial" panose="020B0604020202020204" pitchFamily="34" charset="0"/>
              <a:buChar char="•"/>
            </a:pPr>
            <a:r>
              <a:rPr lang="en-US" altLang="zh-CN" dirty="0"/>
              <a:t>Step 3 — Launch Time. Step 3 compares raw launch times with 10 frame simultaneity threshold. Threshold=10 frame</a:t>
            </a:r>
          </a:p>
          <a:p>
            <a:pPr marL="285750" indent="-285750">
              <a:buFont typeface="Arial" panose="020B0604020202020204" pitchFamily="34" charset="0"/>
              <a:buChar char="•"/>
            </a:pPr>
            <a:r>
              <a:rPr lang="en-US" altLang="zh-CN" dirty="0"/>
              <a:t>Step 4 -- Forfeiture Check: No pause or step back ward in the whole attacking process after launch.</a:t>
            </a:r>
          </a:p>
          <a:p>
            <a:pPr marL="285750" indent="-285750">
              <a:buFont typeface="Arial" panose="020B0604020202020204" pitchFamily="34" charset="0"/>
              <a:buChar char="•"/>
            </a:pPr>
            <a:endParaRPr lang="zh-CN" altLang="en-US" dirty="0"/>
          </a:p>
        </p:txBody>
      </p:sp>
    </p:spTree>
    <p:extLst>
      <p:ext uri="{BB962C8B-B14F-4D97-AF65-F5344CB8AC3E}">
        <p14:creationId xmlns:p14="http://schemas.microsoft.com/office/powerpoint/2010/main" val="6098028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F8A5E73-7057-CB83-F1E6-C35196B4042C}"/>
              </a:ext>
            </a:extLst>
          </p:cNvPr>
          <p:cNvSpPr>
            <a:spLocks noGrp="1"/>
          </p:cNvSpPr>
          <p:nvPr>
            <p:ph type="title"/>
          </p:nvPr>
        </p:nvSpPr>
        <p:spPr/>
        <p:txBody>
          <a:bodyPr/>
          <a:lstStyle/>
          <a:p>
            <a:r>
              <a:rPr lang="en-US" altLang="zh-CN" dirty="0"/>
              <a:t>Output Result: Log (from </a:t>
            </a:r>
            <a:r>
              <a:rPr lang="en-US" altLang="zh-CN" dirty="0" err="1"/>
              <a:t>debug_aggregator</a:t>
            </a:r>
            <a:endParaRPr lang="zh-CN" altLang="en-US" dirty="0"/>
          </a:p>
        </p:txBody>
      </p:sp>
      <p:sp>
        <p:nvSpPr>
          <p:cNvPr id="3" name="内容占位符 2">
            <a:extLst>
              <a:ext uri="{FF2B5EF4-FFF2-40B4-BE49-F238E27FC236}">
                <a16:creationId xmlns:a16="http://schemas.microsoft.com/office/drawing/2014/main" id="{E876C615-0300-A7D5-EFCC-3765A183F6F6}"/>
              </a:ext>
            </a:extLst>
          </p:cNvPr>
          <p:cNvSpPr>
            <a:spLocks noGrp="1"/>
          </p:cNvSpPr>
          <p:nvPr>
            <p:ph idx="1"/>
          </p:nvPr>
        </p:nvSpPr>
        <p:spPr>
          <a:xfrm>
            <a:off x="838200" y="1825624"/>
            <a:ext cx="5378570" cy="4879975"/>
          </a:xfrm>
        </p:spPr>
        <p:txBody>
          <a:bodyPr>
            <a:normAutofit fontScale="32500" lnSpcReduction="20000"/>
          </a:bodyPr>
          <a:lstStyle/>
          <a:p>
            <a:r>
              <a:rPr lang="en-US" altLang="zh-CN" sz="5500" dirty="0">
                <a:highlight>
                  <a:srgbClr val="FFFF00"/>
                </a:highlight>
              </a:rPr>
              <a:t>Verdict process</a:t>
            </a:r>
          </a:p>
          <a:p>
            <a:r>
              <a:rPr lang="en-US" altLang="zh-CN" dirty="0"/>
              <a:t>INFO      Priority step 1: arm gap=1 ≤ 3 → check lunge</a:t>
            </a:r>
          </a:p>
          <a:p>
            <a:r>
              <a:rPr lang="en-US" altLang="zh-CN" dirty="0"/>
              <a:t>INFO      Priority step 2: lunge gap=1 ≤ 3 → check launch</a:t>
            </a:r>
          </a:p>
          <a:p>
            <a:r>
              <a:rPr lang="en-US" altLang="zh-CN" dirty="0"/>
              <a:t>INFO      Priority step 3: launch gap=12 &gt; 10 → </a:t>
            </a:r>
            <a:r>
              <a:rPr lang="en-US" altLang="zh-CN" dirty="0" err="1"/>
              <a:t>first_mover</a:t>
            </a:r>
            <a:r>
              <a:rPr lang="en-US" altLang="zh-CN" dirty="0"/>
              <a:t>=L</a:t>
            </a:r>
          </a:p>
          <a:p>
            <a:r>
              <a:rPr lang="en-US" altLang="zh-CN" dirty="0"/>
              <a:t>INFO      Priority step 3: </a:t>
            </a:r>
            <a:r>
              <a:rPr lang="en-US" altLang="zh-CN" dirty="0" err="1"/>
              <a:t>first_mover</a:t>
            </a:r>
            <a:r>
              <a:rPr lang="en-US" altLang="zh-CN" dirty="0"/>
              <a:t>=L      penalty=False | other=R penalty=False</a:t>
            </a:r>
          </a:p>
          <a:p>
            <a:r>
              <a:rPr lang="en-US" altLang="zh-CN" dirty="0"/>
              <a:t>=================================================================</a:t>
            </a:r>
          </a:p>
          <a:p>
            <a:r>
              <a:rPr lang="en-US" altLang="zh-CN" sz="7200" dirty="0">
                <a:highlight>
                  <a:srgbClr val="FFFF00"/>
                </a:highlight>
              </a:rPr>
              <a:t>Event Table</a:t>
            </a:r>
          </a:p>
          <a:p>
            <a:r>
              <a:rPr lang="en-US" altLang="zh-CN" dirty="0"/>
              <a:t>INFO                                  SYSTEM                               LEFT                                     RIGHT               </a:t>
            </a:r>
          </a:p>
          <a:p>
            <a:r>
              <a:rPr lang="en-US" altLang="zh-CN" dirty="0"/>
              <a:t>INFO        f0009  0.30s  BASELINE_CAPTURED                                                 </a:t>
            </a:r>
          </a:p>
          <a:p>
            <a:r>
              <a:rPr lang="en-US" altLang="zh-CN" dirty="0"/>
              <a:t>INFO        f0016  0.53s  WINDOW_OPEN                                                       </a:t>
            </a:r>
          </a:p>
          <a:p>
            <a:r>
              <a:rPr lang="en-US" altLang="zh-CN" dirty="0"/>
              <a:t>INFO        f0020  0.67s                                                LAUNCH                                    </a:t>
            </a:r>
          </a:p>
          <a:p>
            <a:r>
              <a:rPr lang="en-US" altLang="zh-CN" dirty="0"/>
              <a:t>INFO        f0032  1.07s                                                                                               LAUNCH              </a:t>
            </a:r>
          </a:p>
          <a:p>
            <a:r>
              <a:rPr lang="en-US" altLang="zh-CN" dirty="0"/>
              <a:t>INFO        f0041  1.37s                                                                                         ATTACK_START        </a:t>
            </a:r>
          </a:p>
          <a:p>
            <a:r>
              <a:rPr lang="en-US" altLang="zh-CN" dirty="0"/>
              <a:t>INFO        f0042  1.40s                                           ATTACK_START                              </a:t>
            </a:r>
          </a:p>
          <a:p>
            <a:r>
              <a:rPr lang="en-US" altLang="zh-CN" dirty="0"/>
              <a:t>INFO        f0042  1.40s                                                  LUNGE                                     </a:t>
            </a:r>
          </a:p>
          <a:p>
            <a:r>
              <a:rPr lang="en-US" altLang="zh-CN" dirty="0"/>
              <a:t>INFO        f0043  1.43s                                                                                                 LUNGE               </a:t>
            </a:r>
          </a:p>
          <a:p>
            <a:r>
              <a:rPr lang="en-US" altLang="zh-CN" dirty="0"/>
              <a:t>INFO        f0044  1.47s  LIGHT_ON_L                                                        </a:t>
            </a:r>
          </a:p>
          <a:p>
            <a:r>
              <a:rPr lang="en-US" altLang="zh-CN" dirty="0"/>
              <a:t>INFO        f0046  1.53s  LIGHT_ON_R                                                        </a:t>
            </a:r>
          </a:p>
          <a:p>
            <a:r>
              <a:rPr lang="en-US" altLang="zh-CN" dirty="0"/>
              <a:t>INFO        f0046  1.53s  LIGHT_ON_BOTH                                                     </a:t>
            </a:r>
          </a:p>
          <a:p>
            <a:r>
              <a:rPr lang="en-US" altLang="zh-CN" dirty="0"/>
              <a:t>INFO        f0056  1.87s  WINDOW_CLOSE                                                      </a:t>
            </a:r>
          </a:p>
        </p:txBody>
      </p:sp>
      <p:sp>
        <p:nvSpPr>
          <p:cNvPr id="4" name="内容占位符 2">
            <a:extLst>
              <a:ext uri="{FF2B5EF4-FFF2-40B4-BE49-F238E27FC236}">
                <a16:creationId xmlns:a16="http://schemas.microsoft.com/office/drawing/2014/main" id="{59719218-9041-3446-3102-9272312D4A82}"/>
              </a:ext>
            </a:extLst>
          </p:cNvPr>
          <p:cNvSpPr txBox="1">
            <a:spLocks/>
          </p:cNvSpPr>
          <p:nvPr/>
        </p:nvSpPr>
        <p:spPr>
          <a:xfrm>
            <a:off x="6216769" y="1690688"/>
            <a:ext cx="5906219" cy="4351338"/>
          </a:xfrm>
          <a:prstGeom prst="rect">
            <a:avLst/>
          </a:prstGeom>
        </p:spPr>
        <p:txBody>
          <a:bodyPr vert="horz" lIns="91440" tIns="45720" rIns="91440" bIns="45720" rtlCol="0">
            <a:normAutofit fontScale="6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ltLang="zh-CN" dirty="0"/>
          </a:p>
          <a:p>
            <a:endParaRPr lang="en-US" altLang="zh-CN" dirty="0"/>
          </a:p>
          <a:p>
            <a:r>
              <a:rPr lang="en-US" altLang="zh-CN" dirty="0">
                <a:highlight>
                  <a:srgbClr val="FFFF00"/>
                </a:highlight>
              </a:rPr>
              <a:t>INFO      KEY TIMESTAMPS  (frame | seconds @ 30 fps)</a:t>
            </a:r>
          </a:p>
          <a:p>
            <a:r>
              <a:rPr lang="en-US" altLang="zh-CN" dirty="0"/>
              <a:t>INFO        </a:t>
            </a:r>
            <a:r>
              <a:rPr lang="en-US" altLang="zh-CN" dirty="0" err="1"/>
              <a:t>T_arm_L</a:t>
            </a:r>
            <a:r>
              <a:rPr lang="en-US" altLang="zh-CN" dirty="0"/>
              <a:t>       f0042  1.40s</a:t>
            </a:r>
          </a:p>
          <a:p>
            <a:r>
              <a:rPr lang="en-US" altLang="zh-CN" dirty="0"/>
              <a:t>INFO        </a:t>
            </a:r>
            <a:r>
              <a:rPr lang="en-US" altLang="zh-CN" dirty="0" err="1"/>
              <a:t>T_arm_R</a:t>
            </a:r>
            <a:r>
              <a:rPr lang="en-US" altLang="zh-CN" dirty="0"/>
              <a:t>       f0041  1.37s</a:t>
            </a:r>
          </a:p>
          <a:p>
            <a:r>
              <a:rPr lang="en-US" altLang="zh-CN" dirty="0"/>
              <a:t>INFO        </a:t>
            </a:r>
            <a:r>
              <a:rPr lang="en-US" altLang="zh-CN" dirty="0" err="1"/>
              <a:t>T_step_L</a:t>
            </a:r>
            <a:r>
              <a:rPr lang="en-US" altLang="zh-CN" dirty="0"/>
              <a:t>      f0042  1.40s</a:t>
            </a:r>
          </a:p>
          <a:p>
            <a:r>
              <a:rPr lang="en-US" altLang="zh-CN" dirty="0"/>
              <a:t>INFO        </a:t>
            </a:r>
            <a:r>
              <a:rPr lang="en-US" altLang="zh-CN" dirty="0" err="1"/>
              <a:t>T_step_R</a:t>
            </a:r>
            <a:r>
              <a:rPr lang="en-US" altLang="zh-CN" dirty="0"/>
              <a:t>      f0043  1.43s</a:t>
            </a:r>
          </a:p>
          <a:p>
            <a:r>
              <a:rPr lang="en-US" altLang="zh-CN" dirty="0"/>
              <a:t>INFO        </a:t>
            </a:r>
            <a:r>
              <a:rPr lang="en-US" altLang="zh-CN" dirty="0" err="1"/>
              <a:t>T_launch_L</a:t>
            </a:r>
            <a:r>
              <a:rPr lang="en-US" altLang="zh-CN" dirty="0"/>
              <a:t>    f0020  0.67s</a:t>
            </a:r>
          </a:p>
          <a:p>
            <a:r>
              <a:rPr lang="en-US" altLang="zh-CN" dirty="0"/>
              <a:t>INFO        </a:t>
            </a:r>
            <a:r>
              <a:rPr lang="en-US" altLang="zh-CN" dirty="0" err="1"/>
              <a:t>T_launch_R</a:t>
            </a:r>
            <a:r>
              <a:rPr lang="en-US" altLang="zh-CN" dirty="0"/>
              <a:t>    f0032  1.07s</a:t>
            </a:r>
          </a:p>
          <a:p>
            <a:r>
              <a:rPr lang="en-US" altLang="zh-CN" dirty="0"/>
              <a:t>INFO        </a:t>
            </a:r>
            <a:r>
              <a:rPr lang="en-US" altLang="zh-CN" dirty="0" err="1"/>
              <a:t>pause_L</a:t>
            </a:r>
            <a:r>
              <a:rPr lang="en-US" altLang="zh-CN" dirty="0"/>
              <a:t> = False | </a:t>
            </a:r>
            <a:r>
              <a:rPr lang="en-US" altLang="zh-CN" dirty="0" err="1"/>
              <a:t>pause_R</a:t>
            </a:r>
            <a:r>
              <a:rPr lang="en-US" altLang="zh-CN" dirty="0"/>
              <a:t> = False</a:t>
            </a:r>
          </a:p>
          <a:p>
            <a:r>
              <a:rPr lang="en-US" altLang="zh-CN" dirty="0"/>
              <a:t>INFO        </a:t>
            </a:r>
            <a:r>
              <a:rPr lang="en-US" altLang="zh-CN" dirty="0" err="1"/>
              <a:t>step_back_L</a:t>
            </a:r>
            <a:r>
              <a:rPr lang="en-US" altLang="zh-CN" dirty="0"/>
              <a:t> = False | </a:t>
            </a:r>
            <a:r>
              <a:rPr lang="en-US" altLang="zh-CN" dirty="0" err="1"/>
              <a:t>step_back_R</a:t>
            </a:r>
            <a:r>
              <a:rPr lang="en-US" altLang="zh-CN" dirty="0"/>
              <a:t> = False</a:t>
            </a:r>
          </a:p>
          <a:p>
            <a:r>
              <a:rPr lang="en-US" altLang="zh-CN" dirty="0"/>
              <a:t>   </a:t>
            </a:r>
          </a:p>
          <a:p>
            <a:r>
              <a:rPr lang="en-US" altLang="zh-CN" dirty="0">
                <a:highlight>
                  <a:srgbClr val="FFFF00"/>
                </a:highlight>
              </a:rPr>
              <a:t>Result     VERDICT:  </a:t>
            </a:r>
            <a:r>
              <a:rPr lang="en-US" altLang="zh-CN" dirty="0" err="1">
                <a:highlight>
                  <a:srgbClr val="FFFF00"/>
                </a:highlight>
              </a:rPr>
              <a:t>Verdict.LEFT_SCORES</a:t>
            </a:r>
            <a:endParaRPr lang="en-US" altLang="zh-CN" dirty="0">
              <a:highlight>
                <a:srgbClr val="FFFF00"/>
              </a:highlight>
            </a:endParaRPr>
          </a:p>
        </p:txBody>
      </p:sp>
    </p:spTree>
    <p:extLst>
      <p:ext uri="{BB962C8B-B14F-4D97-AF65-F5344CB8AC3E}">
        <p14:creationId xmlns:p14="http://schemas.microsoft.com/office/powerpoint/2010/main" val="24103574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EF5ACE1-A1CC-AAA4-C454-D8F28816B29C}"/>
              </a:ext>
            </a:extLst>
          </p:cNvPr>
          <p:cNvSpPr>
            <a:spLocks noGrp="1"/>
          </p:cNvSpPr>
          <p:nvPr>
            <p:ph type="title"/>
          </p:nvPr>
        </p:nvSpPr>
        <p:spPr/>
        <p:txBody>
          <a:bodyPr/>
          <a:lstStyle/>
          <a:p>
            <a:r>
              <a:rPr lang="en-US" altLang="zh-CN" dirty="0"/>
              <a:t>Output Result: visualization</a:t>
            </a:r>
            <a:endParaRPr lang="zh-CN" altLang="en-US" dirty="0"/>
          </a:p>
        </p:txBody>
      </p:sp>
      <p:pic>
        <p:nvPicPr>
          <p:cNvPr id="5" name="内容占位符 4">
            <a:extLst>
              <a:ext uri="{FF2B5EF4-FFF2-40B4-BE49-F238E27FC236}">
                <a16:creationId xmlns:a16="http://schemas.microsoft.com/office/drawing/2014/main" id="{B7095538-4D96-DA3D-419A-8C23651B8F2C}"/>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4000273" y="1634540"/>
            <a:ext cx="4016543" cy="4910949"/>
          </a:xfrm>
          <a:prstGeom prst="rect">
            <a:avLst/>
          </a:prstGeom>
        </p:spPr>
      </p:pic>
      <p:sp>
        <p:nvSpPr>
          <p:cNvPr id="6" name="文本框 5">
            <a:extLst>
              <a:ext uri="{FF2B5EF4-FFF2-40B4-BE49-F238E27FC236}">
                <a16:creationId xmlns:a16="http://schemas.microsoft.com/office/drawing/2014/main" id="{1E37AEC9-97C7-C6F5-5695-5F419A26F8CA}"/>
              </a:ext>
            </a:extLst>
          </p:cNvPr>
          <p:cNvSpPr txBox="1"/>
          <p:nvPr/>
        </p:nvSpPr>
        <p:spPr>
          <a:xfrm>
            <a:off x="838200" y="1846052"/>
            <a:ext cx="2719014" cy="369332"/>
          </a:xfrm>
          <a:prstGeom prst="rect">
            <a:avLst/>
          </a:prstGeom>
          <a:noFill/>
        </p:spPr>
        <p:txBody>
          <a:bodyPr wrap="none" rtlCol="0">
            <a:spAutoFit/>
          </a:bodyPr>
          <a:lstStyle/>
          <a:p>
            <a:r>
              <a:rPr lang="en-US" altLang="zh-CN" dirty="0"/>
              <a:t>File name and truth result</a:t>
            </a:r>
            <a:endParaRPr lang="zh-CN" altLang="en-US" dirty="0"/>
          </a:p>
        </p:txBody>
      </p:sp>
      <p:sp>
        <p:nvSpPr>
          <p:cNvPr id="7" name="文本框 6">
            <a:extLst>
              <a:ext uri="{FF2B5EF4-FFF2-40B4-BE49-F238E27FC236}">
                <a16:creationId xmlns:a16="http://schemas.microsoft.com/office/drawing/2014/main" id="{DA714FE2-719C-A1CC-9E9B-371D94B3444F}"/>
              </a:ext>
            </a:extLst>
          </p:cNvPr>
          <p:cNvSpPr txBox="1"/>
          <p:nvPr/>
        </p:nvSpPr>
        <p:spPr>
          <a:xfrm>
            <a:off x="8666672" y="1265208"/>
            <a:ext cx="3195105" cy="369332"/>
          </a:xfrm>
          <a:prstGeom prst="rect">
            <a:avLst/>
          </a:prstGeom>
          <a:noFill/>
        </p:spPr>
        <p:txBody>
          <a:bodyPr wrap="none" rtlCol="0">
            <a:spAutoFit/>
          </a:bodyPr>
          <a:lstStyle/>
          <a:p>
            <a:r>
              <a:rPr lang="en-US" altLang="zh-CN" dirty="0"/>
              <a:t>Verdict result by the </a:t>
            </a:r>
            <a:r>
              <a:rPr lang="en-US" altLang="zh-CN" dirty="0" err="1"/>
              <a:t>algorihtm</a:t>
            </a:r>
            <a:endParaRPr lang="zh-CN" altLang="en-US" dirty="0"/>
          </a:p>
        </p:txBody>
      </p:sp>
      <p:sp>
        <p:nvSpPr>
          <p:cNvPr id="8" name="文本框 7">
            <a:extLst>
              <a:ext uri="{FF2B5EF4-FFF2-40B4-BE49-F238E27FC236}">
                <a16:creationId xmlns:a16="http://schemas.microsoft.com/office/drawing/2014/main" id="{A96DCA4C-6D90-7B25-539A-1BBF6C4D611C}"/>
              </a:ext>
            </a:extLst>
          </p:cNvPr>
          <p:cNvSpPr txBox="1"/>
          <p:nvPr/>
        </p:nvSpPr>
        <p:spPr>
          <a:xfrm>
            <a:off x="1104181" y="3933645"/>
            <a:ext cx="1914307" cy="923330"/>
          </a:xfrm>
          <a:prstGeom prst="rect">
            <a:avLst/>
          </a:prstGeom>
          <a:noFill/>
        </p:spPr>
        <p:txBody>
          <a:bodyPr wrap="none" rtlCol="0">
            <a:spAutoFit/>
          </a:bodyPr>
          <a:lstStyle/>
          <a:p>
            <a:r>
              <a:rPr lang="en-US" altLang="zh-CN" dirty="0"/>
              <a:t>Attack joint angle</a:t>
            </a:r>
          </a:p>
          <a:p>
            <a:pPr marL="285750" indent="-285750">
              <a:buFont typeface="Arial" panose="020B0604020202020204" pitchFamily="34" charset="0"/>
              <a:buChar char="•"/>
            </a:pPr>
            <a:r>
              <a:rPr lang="en-US" altLang="zh-CN" dirty="0"/>
              <a:t>Elbow&gt;140</a:t>
            </a:r>
          </a:p>
          <a:p>
            <a:pPr marL="285750" indent="-285750">
              <a:buFont typeface="Arial" panose="020B0604020202020204" pitchFamily="34" charset="0"/>
              <a:buChar char="•"/>
            </a:pPr>
            <a:r>
              <a:rPr lang="en-US" altLang="zh-CN" dirty="0"/>
              <a:t>Shoulder&gt;60</a:t>
            </a:r>
            <a:endParaRPr lang="zh-CN" altLang="en-US" dirty="0"/>
          </a:p>
        </p:txBody>
      </p:sp>
      <p:sp>
        <p:nvSpPr>
          <p:cNvPr id="9" name="文本框 8">
            <a:extLst>
              <a:ext uri="{FF2B5EF4-FFF2-40B4-BE49-F238E27FC236}">
                <a16:creationId xmlns:a16="http://schemas.microsoft.com/office/drawing/2014/main" id="{9773C534-8DA7-1947-3FD6-A6CCF869099D}"/>
              </a:ext>
            </a:extLst>
          </p:cNvPr>
          <p:cNvSpPr txBox="1"/>
          <p:nvPr/>
        </p:nvSpPr>
        <p:spPr>
          <a:xfrm>
            <a:off x="8286764" y="3266660"/>
            <a:ext cx="3956994" cy="2862322"/>
          </a:xfrm>
          <a:prstGeom prst="rect">
            <a:avLst/>
          </a:prstGeom>
          <a:noFill/>
        </p:spPr>
        <p:txBody>
          <a:bodyPr wrap="square" rtlCol="0">
            <a:spAutoFit/>
          </a:bodyPr>
          <a:lstStyle/>
          <a:p>
            <a:r>
              <a:rPr lang="en-US" altLang="zh-CN" dirty="0"/>
              <a:t>Lunge values</a:t>
            </a:r>
          </a:p>
          <a:p>
            <a:pPr marL="285750" indent="-285750">
              <a:buFont typeface="Arial" panose="020B0604020202020204" pitchFamily="34" charset="0"/>
              <a:buChar char="•"/>
            </a:pPr>
            <a:r>
              <a:rPr lang="en-US" altLang="zh-CN" dirty="0"/>
              <a:t>Knee angle&gt;150</a:t>
            </a:r>
          </a:p>
          <a:p>
            <a:pPr marL="285750" indent="-285750">
              <a:buFont typeface="Arial" panose="020B0604020202020204" pitchFamily="34" charset="0"/>
              <a:buChar char="•"/>
            </a:pPr>
            <a:r>
              <a:rPr lang="en-US" altLang="zh-CN" dirty="0"/>
              <a:t>Thigh angle:</a:t>
            </a:r>
          </a:p>
          <a:p>
            <a:pPr marL="742950" lvl="1" indent="-285750">
              <a:buFont typeface="Arial" panose="020B0604020202020204" pitchFamily="34" charset="0"/>
              <a:buChar char="•"/>
            </a:pPr>
            <a:r>
              <a:rPr lang="en-US" altLang="zh-CN" dirty="0"/>
              <a:t>Left: &gt;100</a:t>
            </a:r>
          </a:p>
          <a:p>
            <a:pPr marL="742950" lvl="1" indent="-285750">
              <a:buFont typeface="Arial" panose="020B0604020202020204" pitchFamily="34" charset="0"/>
              <a:buChar char="•"/>
            </a:pPr>
            <a:r>
              <a:rPr lang="en-US" altLang="zh-CN" dirty="0"/>
              <a:t>Right:&gt;120</a:t>
            </a:r>
          </a:p>
          <a:p>
            <a:pPr marL="285750" indent="-285750">
              <a:buFont typeface="Arial" panose="020B0604020202020204" pitchFamily="34" charset="0"/>
              <a:buChar char="•"/>
            </a:pPr>
            <a:r>
              <a:rPr lang="en-US" altLang="zh-CN" dirty="0"/>
              <a:t>Stance width: &gt;2*of baseline width</a:t>
            </a:r>
          </a:p>
          <a:p>
            <a:pPr marL="285750" indent="-285750">
              <a:buFont typeface="Arial" panose="020B0604020202020204" pitchFamily="34" charset="0"/>
              <a:buChar char="•"/>
            </a:pPr>
            <a:endParaRPr lang="en-US" altLang="zh-CN" dirty="0"/>
          </a:p>
          <a:p>
            <a:r>
              <a:rPr lang="en-US" altLang="zh-CN" dirty="0"/>
              <a:t>Thigh value is different for left and right side is because the project of the camera and the body angle influence </a:t>
            </a:r>
          </a:p>
        </p:txBody>
      </p:sp>
      <p:cxnSp>
        <p:nvCxnSpPr>
          <p:cNvPr id="11" name="直接箭头连接符 10">
            <a:extLst>
              <a:ext uri="{FF2B5EF4-FFF2-40B4-BE49-F238E27FC236}">
                <a16:creationId xmlns:a16="http://schemas.microsoft.com/office/drawing/2014/main" id="{B8C76CA6-91C7-3B39-8E12-E37152F47757}"/>
              </a:ext>
            </a:extLst>
          </p:cNvPr>
          <p:cNvCxnSpPr>
            <a:stCxn id="6" idx="3"/>
          </p:cNvCxnSpPr>
          <p:nvPr/>
        </p:nvCxnSpPr>
        <p:spPr>
          <a:xfrm flipV="1">
            <a:off x="3557214" y="1788543"/>
            <a:ext cx="443059" cy="24217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3" name="直接箭头连接符 12">
            <a:extLst>
              <a:ext uri="{FF2B5EF4-FFF2-40B4-BE49-F238E27FC236}">
                <a16:creationId xmlns:a16="http://schemas.microsoft.com/office/drawing/2014/main" id="{825C1E91-D1C2-D934-18C2-EB10D8FEB41B}"/>
              </a:ext>
            </a:extLst>
          </p:cNvPr>
          <p:cNvCxnSpPr>
            <a:stCxn id="7" idx="1"/>
          </p:cNvCxnSpPr>
          <p:nvPr/>
        </p:nvCxnSpPr>
        <p:spPr>
          <a:xfrm flipH="1">
            <a:off x="7516483" y="1449874"/>
            <a:ext cx="1150189" cy="24081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5" name="直接箭头连接符 14">
            <a:extLst>
              <a:ext uri="{FF2B5EF4-FFF2-40B4-BE49-F238E27FC236}">
                <a16:creationId xmlns:a16="http://schemas.microsoft.com/office/drawing/2014/main" id="{2AEA411D-A29F-5C81-5FA2-9A73EA16B0D1}"/>
              </a:ext>
            </a:extLst>
          </p:cNvPr>
          <p:cNvCxnSpPr>
            <a:stCxn id="8" idx="3"/>
          </p:cNvCxnSpPr>
          <p:nvPr/>
        </p:nvCxnSpPr>
        <p:spPr>
          <a:xfrm flipV="1">
            <a:off x="3018488" y="2582174"/>
            <a:ext cx="1099187" cy="181313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7" name="直接箭头连接符 16">
            <a:extLst>
              <a:ext uri="{FF2B5EF4-FFF2-40B4-BE49-F238E27FC236}">
                <a16:creationId xmlns:a16="http://schemas.microsoft.com/office/drawing/2014/main" id="{0794DF5B-2CA1-539B-C70F-807FDAF9F417}"/>
              </a:ext>
            </a:extLst>
          </p:cNvPr>
          <p:cNvCxnSpPr>
            <a:stCxn id="8" idx="3"/>
          </p:cNvCxnSpPr>
          <p:nvPr/>
        </p:nvCxnSpPr>
        <p:spPr>
          <a:xfrm>
            <a:off x="3018488" y="4395310"/>
            <a:ext cx="1081935" cy="32031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9" name="直接箭头连接符 18">
            <a:extLst>
              <a:ext uri="{FF2B5EF4-FFF2-40B4-BE49-F238E27FC236}">
                <a16:creationId xmlns:a16="http://schemas.microsoft.com/office/drawing/2014/main" id="{CA6115D4-B399-8AE7-E20F-D8087D5A09A7}"/>
              </a:ext>
            </a:extLst>
          </p:cNvPr>
          <p:cNvCxnSpPr>
            <a:cxnSpLocks/>
            <a:stCxn id="9" idx="1"/>
          </p:cNvCxnSpPr>
          <p:nvPr/>
        </p:nvCxnSpPr>
        <p:spPr>
          <a:xfrm flipH="1" flipV="1">
            <a:off x="7470475" y="3485072"/>
            <a:ext cx="816289" cy="121274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1" name="直接箭头连接符 20">
            <a:extLst>
              <a:ext uri="{FF2B5EF4-FFF2-40B4-BE49-F238E27FC236}">
                <a16:creationId xmlns:a16="http://schemas.microsoft.com/office/drawing/2014/main" id="{E67A8EA6-CAB6-D0C0-D184-4C6A8821FB5A}"/>
              </a:ext>
            </a:extLst>
          </p:cNvPr>
          <p:cNvCxnSpPr>
            <a:cxnSpLocks/>
            <a:stCxn id="9" idx="1"/>
          </p:cNvCxnSpPr>
          <p:nvPr/>
        </p:nvCxnSpPr>
        <p:spPr>
          <a:xfrm flipH="1">
            <a:off x="7516483" y="4697821"/>
            <a:ext cx="770281" cy="89784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697785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67B5F2C-FD2F-91EB-B68F-23A3AFD79710}"/>
              </a:ext>
            </a:extLst>
          </p:cNvPr>
          <p:cNvSpPr>
            <a:spLocks noGrp="1"/>
          </p:cNvSpPr>
          <p:nvPr>
            <p:ph type="title"/>
          </p:nvPr>
        </p:nvSpPr>
        <p:spPr/>
        <p:txBody>
          <a:bodyPr/>
          <a:lstStyle/>
          <a:p>
            <a:r>
              <a:rPr lang="en-US" altLang="zh-CN" dirty="0"/>
              <a:t>Output Result: Event visualization </a:t>
            </a:r>
            <a:endParaRPr lang="zh-CN" altLang="en-US" dirty="0"/>
          </a:p>
        </p:txBody>
      </p:sp>
      <p:pic>
        <p:nvPicPr>
          <p:cNvPr id="9" name="内容占位符 8">
            <a:extLst>
              <a:ext uri="{FF2B5EF4-FFF2-40B4-BE49-F238E27FC236}">
                <a16:creationId xmlns:a16="http://schemas.microsoft.com/office/drawing/2014/main" id="{0D5E2684-292D-5067-716D-71B0F55FB4A0}"/>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470140" y="1825616"/>
            <a:ext cx="10515600" cy="2108487"/>
          </a:xfrm>
          <a:prstGeom prst="rect">
            <a:avLst/>
          </a:prstGeom>
        </p:spPr>
      </p:pic>
      <p:sp>
        <p:nvSpPr>
          <p:cNvPr id="10" name="文本框 9">
            <a:extLst>
              <a:ext uri="{FF2B5EF4-FFF2-40B4-BE49-F238E27FC236}">
                <a16:creationId xmlns:a16="http://schemas.microsoft.com/office/drawing/2014/main" id="{1E946DFE-BA84-E2B5-8156-703E7F5CD8A3}"/>
              </a:ext>
            </a:extLst>
          </p:cNvPr>
          <p:cNvSpPr txBox="1"/>
          <p:nvPr/>
        </p:nvSpPr>
        <p:spPr>
          <a:xfrm>
            <a:off x="2179606" y="4411262"/>
            <a:ext cx="6872377" cy="923330"/>
          </a:xfrm>
          <a:prstGeom prst="rect">
            <a:avLst/>
          </a:prstGeom>
          <a:noFill/>
        </p:spPr>
        <p:txBody>
          <a:bodyPr wrap="square" rtlCol="0">
            <a:spAutoFit/>
          </a:bodyPr>
          <a:lstStyle/>
          <a:p>
            <a:r>
              <a:rPr lang="en-US" altLang="zh-CN" dirty="0"/>
              <a:t>The event output will help the judge to see when which event is happened. It will be easier to compare different athletes’ action and their difference of time. </a:t>
            </a:r>
            <a:endParaRPr lang="zh-CN" altLang="en-US" dirty="0"/>
          </a:p>
        </p:txBody>
      </p:sp>
    </p:spTree>
    <p:extLst>
      <p:ext uri="{BB962C8B-B14F-4D97-AF65-F5344CB8AC3E}">
        <p14:creationId xmlns:p14="http://schemas.microsoft.com/office/powerpoint/2010/main" val="2635855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E1C508D-0EA5-98E8-A67B-1F4E64C44F41}"/>
              </a:ext>
            </a:extLst>
          </p:cNvPr>
          <p:cNvSpPr>
            <a:spLocks noGrp="1"/>
          </p:cNvSpPr>
          <p:nvPr>
            <p:ph type="title"/>
          </p:nvPr>
        </p:nvSpPr>
        <p:spPr/>
        <p:txBody>
          <a:bodyPr/>
          <a:lstStyle/>
          <a:p>
            <a:r>
              <a:rPr lang="en-US" altLang="zh-CN" dirty="0"/>
              <a:t>Accuracy</a:t>
            </a:r>
            <a:endParaRPr lang="zh-CN" altLang="en-US" dirty="0"/>
          </a:p>
        </p:txBody>
      </p:sp>
      <p:sp>
        <p:nvSpPr>
          <p:cNvPr id="3" name="内容占位符 2">
            <a:extLst>
              <a:ext uri="{FF2B5EF4-FFF2-40B4-BE49-F238E27FC236}">
                <a16:creationId xmlns:a16="http://schemas.microsoft.com/office/drawing/2014/main" id="{30047721-07F1-C064-DFA5-88B8DCC69797}"/>
              </a:ext>
            </a:extLst>
          </p:cNvPr>
          <p:cNvSpPr>
            <a:spLocks noGrp="1"/>
          </p:cNvSpPr>
          <p:nvPr>
            <p:ph idx="1"/>
          </p:nvPr>
        </p:nvSpPr>
        <p:spPr>
          <a:xfrm>
            <a:off x="838200" y="1825625"/>
            <a:ext cx="5993921" cy="4351338"/>
          </a:xfrm>
        </p:spPr>
        <p:txBody>
          <a:bodyPr>
            <a:normAutofit fontScale="40000" lnSpcReduction="20000"/>
          </a:bodyPr>
          <a:lstStyle/>
          <a:p>
            <a:r>
              <a:rPr lang="en-US" altLang="zh-CN" dirty="0"/>
              <a:t>Video                                                  GT                        Predicted                Match</a:t>
            </a:r>
          </a:p>
          <a:p>
            <a:r>
              <a:rPr lang="zh-CN" altLang="en-US" dirty="0"/>
              <a:t>  互中</a:t>
            </a:r>
            <a:r>
              <a:rPr lang="en-US" altLang="zh-CN" dirty="0"/>
              <a:t>1</a:t>
            </a:r>
            <a:r>
              <a:rPr lang="zh-CN" altLang="en-US" dirty="0"/>
              <a:t>左侧                                </a:t>
            </a:r>
            <a:r>
              <a:rPr lang="en-US" altLang="zh-CN" dirty="0"/>
              <a:t>LEFT_SCORES           </a:t>
            </a:r>
            <a:r>
              <a:rPr lang="en-US" altLang="zh-CN" dirty="0" err="1"/>
              <a:t>LEFT_SCORES</a:t>
            </a:r>
            <a:r>
              <a:rPr lang="en-US" altLang="zh-CN" dirty="0"/>
              <a:t>                ✓</a:t>
            </a:r>
          </a:p>
          <a:p>
            <a:r>
              <a:rPr lang="en-US" altLang="zh-CN" dirty="0"/>
              <a:t>  </a:t>
            </a:r>
            <a:r>
              <a:rPr lang="zh-CN" altLang="en-US" dirty="0"/>
              <a:t>互中</a:t>
            </a:r>
            <a:r>
              <a:rPr lang="en-US" altLang="zh-CN" dirty="0"/>
              <a:t>2</a:t>
            </a:r>
            <a:r>
              <a:rPr lang="zh-CN" altLang="en-US" dirty="0"/>
              <a:t>右侧                                </a:t>
            </a:r>
            <a:r>
              <a:rPr lang="en-US" altLang="zh-CN" dirty="0"/>
              <a:t>RIGHT_SCORES          </a:t>
            </a:r>
            <a:r>
              <a:rPr lang="en-US" altLang="zh-CN" dirty="0" err="1"/>
              <a:t>RIGHT_SCORES</a:t>
            </a:r>
            <a:r>
              <a:rPr lang="en-US" altLang="zh-CN" dirty="0"/>
              <a:t>           ✓</a:t>
            </a:r>
          </a:p>
          <a:p>
            <a:r>
              <a:rPr lang="en-US" altLang="zh-CN" dirty="0"/>
              <a:t>  </a:t>
            </a:r>
            <a:r>
              <a:rPr lang="zh-CN" altLang="en-US" dirty="0"/>
              <a:t>互中</a:t>
            </a:r>
            <a:r>
              <a:rPr lang="en-US" altLang="zh-CN" dirty="0"/>
              <a:t>3</a:t>
            </a:r>
            <a:r>
              <a:rPr lang="zh-CN" altLang="en-US" dirty="0"/>
              <a:t>右侧                                </a:t>
            </a:r>
            <a:r>
              <a:rPr lang="en-US" altLang="zh-CN" dirty="0"/>
              <a:t>RIGHT_SCORES          </a:t>
            </a:r>
            <a:r>
              <a:rPr lang="en-US" altLang="zh-CN" dirty="0" err="1"/>
              <a:t>RIGHT_SCORES</a:t>
            </a:r>
            <a:r>
              <a:rPr lang="en-US" altLang="zh-CN" dirty="0"/>
              <a:t>           ✓</a:t>
            </a:r>
          </a:p>
          <a:p>
            <a:r>
              <a:rPr lang="en-US" altLang="zh-CN" dirty="0"/>
              <a:t>  </a:t>
            </a:r>
            <a:r>
              <a:rPr lang="zh-CN" altLang="en-US" dirty="0"/>
              <a:t>互中</a:t>
            </a:r>
            <a:r>
              <a:rPr lang="en-US" altLang="zh-CN" dirty="0"/>
              <a:t>4</a:t>
            </a:r>
            <a:r>
              <a:rPr lang="zh-CN" altLang="en-US" dirty="0"/>
              <a:t>右侧                                </a:t>
            </a:r>
            <a:r>
              <a:rPr lang="en-US" altLang="zh-CN" dirty="0"/>
              <a:t>RIGHT_SCORES          </a:t>
            </a:r>
            <a:r>
              <a:rPr lang="en-US" altLang="zh-CN" dirty="0" err="1"/>
              <a:t>RIGHT_SCORES</a:t>
            </a:r>
            <a:r>
              <a:rPr lang="en-US" altLang="zh-CN" dirty="0"/>
              <a:t>           ✓</a:t>
            </a:r>
          </a:p>
          <a:p>
            <a:r>
              <a:rPr lang="en-US" altLang="zh-CN" dirty="0"/>
              <a:t>  </a:t>
            </a:r>
            <a:r>
              <a:rPr lang="zh-CN" altLang="en-US" dirty="0"/>
              <a:t>互中</a:t>
            </a:r>
            <a:r>
              <a:rPr lang="en-US" altLang="zh-CN" dirty="0"/>
              <a:t>5</a:t>
            </a:r>
            <a:r>
              <a:rPr lang="zh-CN" altLang="en-US" dirty="0"/>
              <a:t>右侧                                </a:t>
            </a:r>
            <a:r>
              <a:rPr lang="en-US" altLang="zh-CN" dirty="0"/>
              <a:t>RIGHT_SCORES          LEFT_SCORES             ✗</a:t>
            </a:r>
          </a:p>
          <a:p>
            <a:r>
              <a:rPr lang="en-US" altLang="zh-CN" dirty="0"/>
              <a:t>  </a:t>
            </a:r>
            <a:r>
              <a:rPr lang="zh-CN" altLang="en-US" dirty="0"/>
              <a:t>互中</a:t>
            </a:r>
            <a:r>
              <a:rPr lang="en-US" altLang="zh-CN" dirty="0"/>
              <a:t>5</a:t>
            </a:r>
            <a:r>
              <a:rPr lang="zh-CN" altLang="en-US" dirty="0"/>
              <a:t>右侧慢动作                     </a:t>
            </a:r>
            <a:r>
              <a:rPr lang="en-US" altLang="zh-CN" dirty="0"/>
              <a:t>RIGHT_SCORES          </a:t>
            </a:r>
            <a:r>
              <a:rPr lang="en-US" altLang="zh-CN" dirty="0" err="1"/>
              <a:t>RIGHT_SCORES</a:t>
            </a:r>
            <a:r>
              <a:rPr lang="en-US" altLang="zh-CN" dirty="0"/>
              <a:t>           ✓</a:t>
            </a:r>
          </a:p>
          <a:p>
            <a:r>
              <a:rPr lang="en-US" altLang="zh-CN" dirty="0"/>
              <a:t>  </a:t>
            </a:r>
            <a:r>
              <a:rPr lang="zh-CN" altLang="en-US" dirty="0"/>
              <a:t>同时</a:t>
            </a:r>
            <a:r>
              <a:rPr lang="en-US" altLang="zh-CN" dirty="0"/>
              <a:t>1                                       SIMULTANEOUS          </a:t>
            </a:r>
            <a:r>
              <a:rPr lang="en-US" altLang="zh-CN" dirty="0" err="1"/>
              <a:t>SIMULTANEOUS</a:t>
            </a:r>
            <a:r>
              <a:rPr lang="en-US" altLang="zh-CN" dirty="0"/>
              <a:t>        ✓</a:t>
            </a:r>
          </a:p>
          <a:p>
            <a:r>
              <a:rPr lang="en-US" altLang="zh-CN" dirty="0"/>
              <a:t>  </a:t>
            </a:r>
            <a:r>
              <a:rPr lang="zh-CN" altLang="en-US" dirty="0"/>
              <a:t>同时</a:t>
            </a:r>
            <a:r>
              <a:rPr lang="en-US" altLang="zh-CN" dirty="0"/>
              <a:t>2                                       SIMULTANEOUS          </a:t>
            </a:r>
            <a:r>
              <a:rPr lang="en-US" altLang="zh-CN" dirty="0" err="1"/>
              <a:t>SIMULTANEOUS</a:t>
            </a:r>
            <a:r>
              <a:rPr lang="en-US" altLang="zh-CN" dirty="0"/>
              <a:t>        ✓</a:t>
            </a:r>
          </a:p>
          <a:p>
            <a:r>
              <a:rPr lang="en-US" altLang="zh-CN" dirty="0"/>
              <a:t>  </a:t>
            </a:r>
            <a:r>
              <a:rPr lang="zh-CN" altLang="en-US" dirty="0"/>
              <a:t>同时</a:t>
            </a:r>
            <a:r>
              <a:rPr lang="en-US" altLang="zh-CN" dirty="0"/>
              <a:t>3                                       SIMULTANEOUS          </a:t>
            </a:r>
            <a:r>
              <a:rPr lang="en-US" altLang="zh-CN" dirty="0" err="1"/>
              <a:t>SIMULTANEOUS</a:t>
            </a:r>
            <a:r>
              <a:rPr lang="en-US" altLang="zh-CN" dirty="0"/>
              <a:t>        ✓</a:t>
            </a:r>
          </a:p>
          <a:p>
            <a:r>
              <a:rPr lang="en-US" altLang="zh-CN" dirty="0"/>
              <a:t>  </a:t>
            </a:r>
            <a:r>
              <a:rPr lang="zh-CN" altLang="en-US" dirty="0"/>
              <a:t>同时</a:t>
            </a:r>
            <a:r>
              <a:rPr lang="en-US" altLang="zh-CN" dirty="0"/>
              <a:t>4                                       SIMULTANEOUS          </a:t>
            </a:r>
            <a:r>
              <a:rPr lang="en-US" altLang="zh-CN" dirty="0" err="1"/>
              <a:t>SIMULTANEOUS</a:t>
            </a:r>
            <a:r>
              <a:rPr lang="en-US" altLang="zh-CN" dirty="0"/>
              <a:t>        ✓</a:t>
            </a:r>
          </a:p>
          <a:p>
            <a:r>
              <a:rPr lang="en-US" altLang="zh-CN" dirty="0"/>
              <a:t>  </a:t>
            </a:r>
            <a:r>
              <a:rPr lang="zh-CN" altLang="en-US" dirty="0"/>
              <a:t>同时飞剑</a:t>
            </a:r>
            <a:r>
              <a:rPr lang="en-US" altLang="zh-CN" dirty="0"/>
              <a:t>-1                              SIMULTANEOUS          LEFT_SCORES             ✗</a:t>
            </a:r>
          </a:p>
          <a:p>
            <a:endParaRPr lang="en-US" altLang="zh-CN" dirty="0"/>
          </a:p>
          <a:p>
            <a:r>
              <a:rPr lang="en-US" altLang="zh-CN" dirty="0"/>
              <a:t>  Labelled videos : 11</a:t>
            </a:r>
          </a:p>
          <a:p>
            <a:r>
              <a:rPr lang="en-US" altLang="zh-CN" dirty="0"/>
              <a:t>  Correct         : 9</a:t>
            </a:r>
          </a:p>
          <a:p>
            <a:r>
              <a:rPr lang="en-US" altLang="zh-CN" dirty="0"/>
              <a:t>  Accuracy        : 81.8%</a:t>
            </a:r>
          </a:p>
        </p:txBody>
      </p:sp>
      <p:sp>
        <p:nvSpPr>
          <p:cNvPr id="4" name="文本框 3">
            <a:extLst>
              <a:ext uri="{FF2B5EF4-FFF2-40B4-BE49-F238E27FC236}">
                <a16:creationId xmlns:a16="http://schemas.microsoft.com/office/drawing/2014/main" id="{0B660B99-3A63-73CB-5DCE-C681442302FE}"/>
              </a:ext>
            </a:extLst>
          </p:cNvPr>
          <p:cNvSpPr txBox="1"/>
          <p:nvPr/>
        </p:nvSpPr>
        <p:spPr>
          <a:xfrm>
            <a:off x="7355457" y="1690688"/>
            <a:ext cx="4756030" cy="923330"/>
          </a:xfrm>
          <a:prstGeom prst="rect">
            <a:avLst/>
          </a:prstGeom>
          <a:noFill/>
        </p:spPr>
        <p:txBody>
          <a:bodyPr wrap="square" rtlCol="0">
            <a:spAutoFit/>
          </a:bodyPr>
          <a:lstStyle/>
          <a:p>
            <a:r>
              <a:rPr lang="en-US" altLang="zh-CN" dirty="0"/>
              <a:t>In the 11 test cases, the accuracy is 81%</a:t>
            </a:r>
          </a:p>
          <a:p>
            <a:r>
              <a:rPr lang="en-US" altLang="zh-CN" dirty="0"/>
              <a:t>For the future, I should also get a larger data set to test on the accuracy on the algorithm</a:t>
            </a:r>
            <a:endParaRPr lang="zh-CN" altLang="en-US" dirty="0"/>
          </a:p>
        </p:txBody>
      </p:sp>
    </p:spTree>
    <p:extLst>
      <p:ext uri="{BB962C8B-B14F-4D97-AF65-F5344CB8AC3E}">
        <p14:creationId xmlns:p14="http://schemas.microsoft.com/office/powerpoint/2010/main" val="898049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7192B77-FB13-5E82-74DE-9026E029A7F4}"/>
              </a:ext>
            </a:extLst>
          </p:cNvPr>
          <p:cNvSpPr>
            <a:spLocks noGrp="1"/>
          </p:cNvSpPr>
          <p:nvPr>
            <p:ph type="title"/>
          </p:nvPr>
        </p:nvSpPr>
        <p:spPr/>
        <p:txBody>
          <a:bodyPr/>
          <a:lstStyle/>
          <a:p>
            <a:r>
              <a:rPr lang="en-US" altLang="zh-CN" dirty="0"/>
              <a:t>Need improvement: sword tracking</a:t>
            </a:r>
            <a:endParaRPr lang="zh-CN" altLang="en-US" dirty="0"/>
          </a:p>
        </p:txBody>
      </p:sp>
      <p:sp>
        <p:nvSpPr>
          <p:cNvPr id="3" name="内容占位符 2">
            <a:extLst>
              <a:ext uri="{FF2B5EF4-FFF2-40B4-BE49-F238E27FC236}">
                <a16:creationId xmlns:a16="http://schemas.microsoft.com/office/drawing/2014/main" id="{C495B324-45AD-BF6A-86C9-8C628D707CE6}"/>
              </a:ext>
            </a:extLst>
          </p:cNvPr>
          <p:cNvSpPr>
            <a:spLocks noGrp="1"/>
          </p:cNvSpPr>
          <p:nvPr>
            <p:ph idx="1"/>
          </p:nvPr>
        </p:nvSpPr>
        <p:spPr>
          <a:xfrm>
            <a:off x="838200" y="1825625"/>
            <a:ext cx="4143520" cy="4351338"/>
          </a:xfrm>
        </p:spPr>
        <p:txBody>
          <a:bodyPr/>
          <a:lstStyle/>
          <a:p>
            <a:r>
              <a:rPr lang="en-US" altLang="zh-CN" dirty="0"/>
              <a:t>Sword detection will help a </a:t>
            </a:r>
            <a:r>
              <a:rPr lang="en-US" altLang="zh-CN" dirty="0" err="1"/>
              <a:t>lpt</a:t>
            </a:r>
            <a:r>
              <a:rPr lang="en-US" altLang="zh-CN" dirty="0"/>
              <a:t> in define the priority of attack</a:t>
            </a:r>
          </a:p>
          <a:p>
            <a:r>
              <a:rPr lang="en-US" altLang="zh-CN" dirty="0"/>
              <a:t>There is no such data set or library to tracking yet</a:t>
            </a:r>
            <a:endParaRPr lang="zh-CN" altLang="en-US" dirty="0"/>
          </a:p>
        </p:txBody>
      </p:sp>
      <p:pic>
        <p:nvPicPr>
          <p:cNvPr id="5" name="图片 4">
            <a:extLst>
              <a:ext uri="{FF2B5EF4-FFF2-40B4-BE49-F238E27FC236}">
                <a16:creationId xmlns:a16="http://schemas.microsoft.com/office/drawing/2014/main" id="{7D88F6E3-4AEF-9EB0-A649-8F3AFBBDACF9}"/>
              </a:ext>
            </a:extLst>
          </p:cNvPr>
          <p:cNvPicPr>
            <a:picLocks noChangeAspect="1"/>
          </p:cNvPicPr>
          <p:nvPr/>
        </p:nvPicPr>
        <p:blipFill>
          <a:blip r:embed="rId3"/>
          <a:stretch>
            <a:fillRect/>
          </a:stretch>
        </p:blipFill>
        <p:spPr>
          <a:xfrm>
            <a:off x="4981720" y="2391582"/>
            <a:ext cx="6848472" cy="3872811"/>
          </a:xfrm>
          <a:prstGeom prst="rect">
            <a:avLst/>
          </a:prstGeom>
        </p:spPr>
      </p:pic>
      <p:sp>
        <p:nvSpPr>
          <p:cNvPr id="6" name="椭圆 5">
            <a:extLst>
              <a:ext uri="{FF2B5EF4-FFF2-40B4-BE49-F238E27FC236}">
                <a16:creationId xmlns:a16="http://schemas.microsoft.com/office/drawing/2014/main" id="{0853A864-9510-E8FD-4F19-DD7DAAD534E6}"/>
              </a:ext>
            </a:extLst>
          </p:cNvPr>
          <p:cNvSpPr/>
          <p:nvPr/>
        </p:nvSpPr>
        <p:spPr>
          <a:xfrm rot="20309260">
            <a:off x="8305766" y="4060580"/>
            <a:ext cx="701615" cy="143774"/>
          </a:xfrm>
          <a:prstGeom prst="ellipse">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7" name="椭圆 6">
            <a:extLst>
              <a:ext uri="{FF2B5EF4-FFF2-40B4-BE49-F238E27FC236}">
                <a16:creationId xmlns:a16="http://schemas.microsoft.com/office/drawing/2014/main" id="{AD5063CE-E176-DDF3-BAA3-2465687D0D85}"/>
              </a:ext>
            </a:extLst>
          </p:cNvPr>
          <p:cNvSpPr/>
          <p:nvPr/>
        </p:nvSpPr>
        <p:spPr>
          <a:xfrm rot="761501">
            <a:off x="8663796" y="4256101"/>
            <a:ext cx="701615" cy="143774"/>
          </a:xfrm>
          <a:prstGeom prst="ellipse">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Tree>
    <p:extLst>
      <p:ext uri="{BB962C8B-B14F-4D97-AF65-F5344CB8AC3E}">
        <p14:creationId xmlns:p14="http://schemas.microsoft.com/office/powerpoint/2010/main" val="1609453243"/>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508</TotalTime>
  <Words>2270</Words>
  <Application>Microsoft Office PowerPoint</Application>
  <PresentationFormat>宽屏</PresentationFormat>
  <Paragraphs>141</Paragraphs>
  <Slides>13</Slides>
  <Notes>13</Notes>
  <HiddenSlides>0</HiddenSlides>
  <MMClips>1</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13</vt:i4>
      </vt:variant>
    </vt:vector>
  </HeadingPairs>
  <TitlesOfParts>
    <vt:vector size="17" baseType="lpstr">
      <vt:lpstr>等线</vt:lpstr>
      <vt:lpstr>等线 Light</vt:lpstr>
      <vt:lpstr>Arial</vt:lpstr>
      <vt:lpstr>Office 主题​​</vt:lpstr>
      <vt:lpstr>Automated Priority Judgment for Sabre Fencing via Multimodal PoseAnalysis</vt:lpstr>
      <vt:lpstr>Preliminary: how fencing referee judge double hit</vt:lpstr>
      <vt:lpstr>Related work:</vt:lpstr>
      <vt:lpstr>Core Design: Temporal Segmentation</vt:lpstr>
      <vt:lpstr>Core Design: Motion Detection</vt:lpstr>
      <vt:lpstr>PowerPoint 演示文稿</vt:lpstr>
      <vt:lpstr>Attack detection</vt:lpstr>
      <vt:lpstr>Core Design: Priority Decision Workflow</vt:lpstr>
      <vt:lpstr>Output Result: Log (from debug_aggregator</vt:lpstr>
      <vt:lpstr>Output Result: visualization</vt:lpstr>
      <vt:lpstr>Output Result: Event visualization </vt:lpstr>
      <vt:lpstr>Accuracy</vt:lpstr>
      <vt:lpstr>Need improvement: sword tracking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Yucheng Zhu</dc:creator>
  <cp:lastModifiedBy>Yucheng Zhu</cp:lastModifiedBy>
  <cp:revision>4</cp:revision>
  <dcterms:created xsi:type="dcterms:W3CDTF">2026-05-07T05:02:48Z</dcterms:created>
  <dcterms:modified xsi:type="dcterms:W3CDTF">2026-05-07T14:53:31Z</dcterms:modified>
</cp:coreProperties>
</file>