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263" r:id="rId6"/>
    <p:sldId id="256" r:id="rId7"/>
    <p:sldId id="259" r:id="rId8"/>
    <p:sldId id="264" r:id="rId9"/>
    <p:sldId id="268" r:id="rId10"/>
    <p:sldId id="265" r:id="rId11"/>
    <p:sldId id="266" r:id="rId12"/>
    <p:sldId id="267" r:id="rId13"/>
    <p:sldId id="25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83" d="100"/>
          <a:sy n="83" d="100"/>
        </p:scale>
        <p:origin x="633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548D6-6CB5-003A-0B0F-0AE5FE31D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AB80A7-FA4F-17E1-4A58-17E5665B5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FA61DC-53C4-6473-4280-64EC91CB5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5B988-1099-B3AB-2AF6-37AEDA30F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114C14-C51A-D338-052A-A4293870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144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265FD-6FC1-2A3A-67FA-B3A25666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5C263-AFF1-1D75-F2CA-6E77D3C09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DBB031-A033-BA06-C68A-370C8759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AC23C-55EF-6C30-9105-D32302B6A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F47701-7582-4B0C-CEA4-9920FD7E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4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42D79-5812-B6FE-9D10-894D1388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89A904-AA64-BB86-3541-C8769AD1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CDE86-B6E8-E19B-2689-F9B5DE0AC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9E166-0BEA-F8EB-3A6D-F351B694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BC5D4C-66CF-08B5-CC72-8FA5CC0FA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682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AC38E-6476-C88B-C8F6-610D547D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18DC9-609B-72F9-2CD5-76D2FBD9A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D85CED-6C34-0F54-0B3D-6CE09C017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7572E1-4B95-EF79-1DDF-5A6E631D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4B8226-2296-157D-7407-835B466F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653D48-0D59-36DC-6FC7-6871E8C90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8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CE03B-BB9F-44FE-B0A2-4545930A5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50A4ED-2D9F-7F61-A04D-08C8740BD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BDAB16-E85B-9068-E9B4-120C9DEAE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DF3CD0-0D3C-B9F3-AA08-80443752E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2CCE6A-EC4C-1057-11E5-5480C5CA8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E3796E-F82C-7511-4EDD-9DD858B0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D227E5-2F2C-7EA9-1C70-0ED57439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033458-4B80-F1FC-7926-D623A07A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5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A1F95-2C5C-DD67-6A7B-69060A5F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537992-039E-958A-B1DF-5A18D716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3A1F19-8345-7BFB-B779-A48E506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FE815A-A02F-6701-2364-15808921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4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E4C6B2-D87A-4EF2-4A32-12EF97DF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EE000E-9E31-D5D9-84F0-3D3182C97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5B5320-28A9-A9F0-A4A8-B0310023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758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9A683-53B3-F6BE-EBD1-C54D7636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B8BFFE-5E5E-BDD2-C652-9BD922505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435BAE-370F-491A-F3AC-9C9267570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FBDF10-A9A0-3A20-2715-2B5492AC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1D1F44-479B-A441-00D8-05442F4F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8D56E2-8855-3A11-36A1-C579CFF2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62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6052B-8400-6E25-6F42-316A3548E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C4E61D-1FCA-E87C-F485-A5D57D553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C20F6A-AD0A-EDB8-A6CD-F7475E712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5A16CA-A46A-41C9-863A-0C9171D3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05FE9E-4E3E-3B29-F5B2-1F6F2D9C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A27D38-5A4B-83A8-7810-0A596B99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61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6A959-B4B7-A4BA-201A-7D0FBE8A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DAD5D2-F4F9-EC89-994A-DD1A1819D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ED8EFD-3941-7F0F-08E4-4899B3B5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2FC23A-3C32-3229-08A4-01CA8DB5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255580-EFD9-B57C-25C6-C7525447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2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857752-4636-5DA0-5BCA-C5E107AFF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AF7986-C0A7-B3E0-2669-A4FBDA745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BE45D9-EF07-B425-AFFE-E861BF11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4992C-374A-2B5E-915D-BF2100DC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AA1C32-0948-3BD3-3D69-F164E52F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3DC1CE-D470-FE48-A017-9E460EBF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6550A8-C39E-031B-3848-0A44F666F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B52F4D-9F3A-9F58-9D9E-1332278BD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2250B-ECC4-4303-816C-0483AC26BFD0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C187B2-1610-A5D9-C047-D01A1D7C9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3EA6AD-EAFC-93CA-1455-9D0D39777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96E199-FFBC-416C-AF61-AA776A238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9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7DA50-D7BB-10F3-220C-E7510EDBC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7992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Fencing Post Detection</a:t>
            </a:r>
            <a:br>
              <a:rPr lang="en-US" altLang="zh-CN" dirty="0"/>
            </a:br>
            <a:r>
              <a:rPr lang="en-US" altLang="zh-CN" dirty="0"/>
              <a:t>and </a:t>
            </a:r>
            <a:br>
              <a:rPr lang="en-US" altLang="zh-CN" dirty="0"/>
            </a:br>
            <a:r>
              <a:rPr lang="en-US" altLang="zh-CN" dirty="0"/>
              <a:t>Auto Referee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00C13E-5F07-88D0-309A-7BB0C7695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3011" y="4907756"/>
            <a:ext cx="9144000" cy="1655762"/>
          </a:xfrm>
        </p:spPr>
        <p:txBody>
          <a:bodyPr/>
          <a:lstStyle/>
          <a:p>
            <a:r>
              <a:rPr lang="en-US" altLang="zh-CN" dirty="0"/>
              <a:t>Yucheng Zhu CS207 Final Project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59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57CA2-53E2-B58C-3E77-DCA39E3A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Preliminary: how fencing referee judge double hit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E155ED-6470-9618-D387-71CB67B82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13075" cy="4351338"/>
          </a:xfrm>
        </p:spPr>
        <p:txBody>
          <a:bodyPr/>
          <a:lstStyle/>
          <a:p>
            <a:r>
              <a:rPr lang="en-US" altLang="zh-CN" dirty="0"/>
              <a:t>Check whose arm extension (attack) first</a:t>
            </a:r>
          </a:p>
          <a:p>
            <a:r>
              <a:rPr lang="en-US" altLang="zh-CN" dirty="0"/>
              <a:t>Check whose lunge first</a:t>
            </a:r>
          </a:p>
          <a:p>
            <a:r>
              <a:rPr lang="en-US" altLang="zh-CN" dirty="0"/>
              <a:t>Check whose launch first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But saber is too fast, everything is  done in 1 seconds. </a:t>
            </a:r>
          </a:p>
          <a:p>
            <a:pPr marL="0" indent="0">
              <a:buNone/>
            </a:pPr>
            <a:r>
              <a:rPr lang="en-US" altLang="zh-CN" dirty="0"/>
              <a:t>Even if the referee have the slow motion, it is still hard to judge</a:t>
            </a:r>
            <a:endParaRPr lang="zh-CN" altLang="en-US" dirty="0"/>
          </a:p>
        </p:txBody>
      </p:sp>
      <p:pic>
        <p:nvPicPr>
          <p:cNvPr id="5" name="同时1">
            <a:hlinkClick r:id="" action="ppaction://media"/>
            <a:extLst>
              <a:ext uri="{FF2B5EF4-FFF2-40B4-BE49-F238E27FC236}">
                <a16:creationId xmlns:a16="http://schemas.microsoft.com/office/drawing/2014/main" id="{1AAC8FD0-1A88-B6E8-DF59-F01BC8C9EC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32121" y="2041634"/>
            <a:ext cx="4734584" cy="268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3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011E3-8F94-165D-3D50-2860B0AE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Related work: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D4D591-0B61-023A-6A31-F5F31F89B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4947" cy="4351338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sz="1600" dirty="0"/>
              <a:t>Allez Go: Computer Vision and Audio Analysis for AI Fencing Referees</a:t>
            </a:r>
          </a:p>
          <a:p>
            <a:pPr lvl="1"/>
            <a:r>
              <a:rPr lang="en-US" altLang="zh-CN" sz="1200" dirty="0"/>
              <a:t>Multimodal audio-visual fusion for automated refereeing </a:t>
            </a:r>
          </a:p>
          <a:p>
            <a:pPr lvl="1"/>
            <a:r>
              <a:rPr lang="en-US" altLang="zh-CN" sz="1200" dirty="0"/>
              <a:t>First attempt to use audio cues instead of purely visual methods</a:t>
            </a:r>
          </a:p>
          <a:p>
            <a:pPr lvl="1"/>
            <a:r>
              <a:rPr lang="en-US" altLang="zh-CN" sz="1200" dirty="0"/>
              <a:t>Lightweight TCN-based temporal modeling</a:t>
            </a:r>
          </a:p>
          <a:p>
            <a:r>
              <a:rPr lang="en-US" altLang="zh-CN" sz="1600" dirty="0"/>
              <a:t>FERA: Foil Fencing Referee Assistant Using Pose-Based Multi-Label Move Recognition and Rule Reasoning</a:t>
            </a:r>
          </a:p>
          <a:p>
            <a:pPr lvl="1"/>
            <a:r>
              <a:rPr lang="en-US" altLang="zh-CN" sz="1200" dirty="0"/>
              <a:t>End-to-end priority reasoning pipeline (perception → action classification → rule inference) </a:t>
            </a:r>
          </a:p>
          <a:p>
            <a:pPr lvl="1"/>
            <a:r>
              <a:rPr lang="en-US" altLang="zh-CN" sz="1200" dirty="0"/>
              <a:t>Publicly released dataset and evaluation benchmark</a:t>
            </a:r>
          </a:p>
          <a:p>
            <a:pPr lvl="1"/>
            <a:r>
              <a:rPr lang="en-US" altLang="zh-CN" sz="1200" dirty="0"/>
              <a:t> First application of LLM-based reasoning to fencing refereeing rules</a:t>
            </a:r>
          </a:p>
          <a:p>
            <a:r>
              <a:rPr lang="en-US" altLang="zh-CN" sz="1600" dirty="0" err="1"/>
              <a:t>FenceNet</a:t>
            </a:r>
            <a:r>
              <a:rPr lang="en-US" altLang="zh-CN" sz="1600" dirty="0"/>
              <a:t>: Fine-Grained Footwork Recognition in Fencing</a:t>
            </a:r>
          </a:p>
          <a:p>
            <a:pPr lvl="1"/>
            <a:r>
              <a:rPr lang="en-US" altLang="zh-CN" sz="1200" dirty="0"/>
              <a:t>No wearable sensors required; relies solely on 2D pose data</a:t>
            </a:r>
          </a:p>
          <a:p>
            <a:pPr lvl="1"/>
            <a:r>
              <a:rPr lang="en-US" altLang="zh-CN" sz="1200" dirty="0"/>
              <a:t> </a:t>
            </a:r>
            <a:r>
              <a:rPr lang="en-US" altLang="zh-CN" sz="1200" dirty="0" err="1"/>
              <a:t>BiFenceNet</a:t>
            </a:r>
            <a:r>
              <a:rPr lang="en-US" altLang="zh-CN" sz="1200" dirty="0"/>
              <a:t> captures bidirectional temporal dynamics in movement </a:t>
            </a:r>
          </a:p>
          <a:p>
            <a:pPr lvl="1"/>
            <a:r>
              <a:rPr lang="en-US" altLang="zh-CN" sz="1200" dirty="0"/>
              <a:t>One of the earliest works enabling direct video-based fencing footwork recognition</a:t>
            </a:r>
          </a:p>
          <a:p>
            <a:pPr marL="342900" indent="-342900">
              <a:buFont typeface="+mj-lt"/>
              <a:buAutoNum type="arabicPeriod"/>
            </a:pPr>
            <a:endParaRPr lang="en-US" altLang="zh-CN" sz="1600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9D2A6A-4287-3BCB-EF85-1C4665383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921" y="1396930"/>
            <a:ext cx="4678735" cy="27523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336028F-E5D2-10D5-1BA4-595D3E07767A}"/>
              </a:ext>
            </a:extLst>
          </p:cNvPr>
          <p:cNvSpPr txBox="1"/>
          <p:nvPr/>
        </p:nvSpPr>
        <p:spPr>
          <a:xfrm>
            <a:off x="8051321" y="4635260"/>
            <a:ext cx="2996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Allez Go: marking priority (attack) to help automated refereeing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145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71FDC-36B5-C290-C842-0F193146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Design: Temporal Segmentation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D42C6DA-E60F-90B0-BE61-4B5F0317B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93" y="1830605"/>
            <a:ext cx="5448300" cy="30646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9C5CE88-5F2D-3E85-B67F-318785BE00F1}"/>
              </a:ext>
            </a:extLst>
          </p:cNvPr>
          <p:cNvSpPr txBox="1"/>
          <p:nvPr/>
        </p:nvSpPr>
        <p:spPr>
          <a:xfrm>
            <a:off x="838200" y="1892060"/>
            <a:ext cx="47287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Multimodal Event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Audio: referee vocal commands (Allez ) and electronic scoring buzzer activations.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Vision: scoring apparatus indicator lights and athlete pose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Figure selections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Piste</a:t>
            </a:r>
            <a:r>
              <a:rPr lang="en-US" altLang="zh-CN" dirty="0"/>
              <a:t>: The ground for fencing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Athletes: The biggest human body on the </a:t>
            </a:r>
            <a:r>
              <a:rPr lang="en-US" altLang="zh-CN" dirty="0" err="1"/>
              <a:t>piste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Score machine light: red or green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65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61559-8DC1-5581-EF55-7709C21E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Design: Motion Detection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24713C-1B27-837E-887F-5D803970B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Baseline detection</a:t>
            </a:r>
          </a:p>
          <a:p>
            <a:pPr lvl="1"/>
            <a:r>
              <a:rPr lang="en-US" altLang="zh-CN" dirty="0"/>
              <a:t>athlete’s static on-guard joint angles serving as the reference zero-point for all subsequent motion thresholds</a:t>
            </a:r>
          </a:p>
          <a:p>
            <a:r>
              <a:rPr lang="en-US" altLang="zh-CN" dirty="0"/>
              <a:t>Lunge detection</a:t>
            </a:r>
          </a:p>
          <a:p>
            <a:pPr lvl="1"/>
            <a:r>
              <a:rPr lang="en-US" altLang="zh-CN" dirty="0"/>
              <a:t>the primary offensive move-</a:t>
            </a:r>
            <a:r>
              <a:rPr lang="en-US" altLang="zh-CN" dirty="0" err="1"/>
              <a:t>ment</a:t>
            </a:r>
            <a:r>
              <a:rPr lang="en-US" altLang="zh-CN" dirty="0"/>
              <a:t> and the clearest physical expression of an attack on foot</a:t>
            </a:r>
          </a:p>
          <a:p>
            <a:r>
              <a:rPr lang="en-US" altLang="zh-CN" dirty="0"/>
              <a:t>Attack detection</a:t>
            </a:r>
          </a:p>
          <a:p>
            <a:pPr lvl="1"/>
            <a:r>
              <a:rPr lang="en-US" altLang="zh-CN" dirty="0"/>
              <a:t>Joint angles on arm and shoulder</a:t>
            </a:r>
          </a:p>
          <a:p>
            <a:r>
              <a:rPr lang="en-US" altLang="zh-CN" dirty="0"/>
              <a:t>Pause detection</a:t>
            </a:r>
          </a:p>
          <a:p>
            <a:pPr lvl="1"/>
            <a:r>
              <a:rPr lang="en-US" altLang="zh-CN" dirty="0"/>
              <a:t>A pause event signals that an athlete’s forward action </a:t>
            </a:r>
            <a:r>
              <a:rPr lang="en-US" altLang="zh-CN" dirty="0" err="1"/>
              <a:t>hasbeen</a:t>
            </a:r>
            <a:r>
              <a:rPr lang="en-US" altLang="zh-CN" dirty="0"/>
              <a:t> interrupted after launch, causing loss of priority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7402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C76901-35C7-C6D8-7FA5-C0E763C0B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92" y="1275261"/>
            <a:ext cx="8202460" cy="5370632"/>
          </a:xfrm>
          <a:prstGeom prst="rect">
            <a:avLst/>
          </a:prstGeom>
        </p:spPr>
      </p:pic>
      <p:sp>
        <p:nvSpPr>
          <p:cNvPr id="6" name="弧形 5">
            <a:extLst>
              <a:ext uri="{FF2B5EF4-FFF2-40B4-BE49-F238E27FC236}">
                <a16:creationId xmlns:a16="http://schemas.microsoft.com/office/drawing/2014/main" id="{5EC1CF60-FD40-AC24-F574-6B4CDB547BE3}"/>
              </a:ext>
            </a:extLst>
          </p:cNvPr>
          <p:cNvSpPr/>
          <p:nvPr/>
        </p:nvSpPr>
        <p:spPr>
          <a:xfrm rot="5643524">
            <a:off x="5124704" y="4448481"/>
            <a:ext cx="626400" cy="645993"/>
          </a:xfrm>
          <a:prstGeom prst="arc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18AC96-09C7-D6F4-58FB-A9CA9AB34BBB}"/>
              </a:ext>
            </a:extLst>
          </p:cNvPr>
          <p:cNvSpPr txBox="1"/>
          <p:nvPr/>
        </p:nvSpPr>
        <p:spPr>
          <a:xfrm>
            <a:off x="2886506" y="4018310"/>
            <a:ext cx="2960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Angle of the front knee joint</a:t>
            </a:r>
          </a:p>
          <a:p>
            <a:pPr algn="ctr"/>
            <a:r>
              <a:rPr lang="en-US" altLang="zh-CN" dirty="0">
                <a:highlight>
                  <a:srgbClr val="FFFF00"/>
                </a:highlight>
              </a:rPr>
              <a:t>&gt;150°</a:t>
            </a:r>
            <a:endParaRPr lang="zh-CN" altLang="en-US" dirty="0">
              <a:highlight>
                <a:srgbClr val="FFFF00"/>
              </a:highlight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C6FFC4C-9578-B0DE-F0C6-0AD064AC182A}"/>
              </a:ext>
            </a:extLst>
          </p:cNvPr>
          <p:cNvCxnSpPr>
            <a:cxnSpLocks/>
          </p:cNvCxnSpPr>
          <p:nvPr/>
        </p:nvCxnSpPr>
        <p:spPr>
          <a:xfrm>
            <a:off x="5013082" y="4523181"/>
            <a:ext cx="486555" cy="30567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D20B825-1954-ACD9-CBEA-0DF707B80B4D}"/>
              </a:ext>
            </a:extLst>
          </p:cNvPr>
          <p:cNvCxnSpPr>
            <a:cxnSpLocks/>
          </p:cNvCxnSpPr>
          <p:nvPr/>
        </p:nvCxnSpPr>
        <p:spPr>
          <a:xfrm>
            <a:off x="4899804" y="5580124"/>
            <a:ext cx="3956649" cy="25313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C238EFB-A2A4-7D05-9280-F3511AF20A59}"/>
              </a:ext>
            </a:extLst>
          </p:cNvPr>
          <p:cNvSpPr txBox="1"/>
          <p:nvPr/>
        </p:nvSpPr>
        <p:spPr>
          <a:xfrm>
            <a:off x="4497107" y="5833254"/>
            <a:ext cx="4761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Width between two feet&gt;2*width baseline 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3333C8BE-C56F-988C-00F1-543AD0CD6786}"/>
              </a:ext>
            </a:extLst>
          </p:cNvPr>
          <p:cNvSpPr/>
          <p:nvPr/>
        </p:nvSpPr>
        <p:spPr>
          <a:xfrm rot="8810615">
            <a:off x="6641537" y="3924173"/>
            <a:ext cx="491387" cy="420389"/>
          </a:xfrm>
          <a:prstGeom prst="arc">
            <a:avLst>
              <a:gd name="adj1" fmla="val 15829664"/>
              <a:gd name="adj2" fmla="val 0"/>
            </a:avLst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D2B8AB9-9124-61BD-920E-29CD01DB4F3E}"/>
              </a:ext>
            </a:extLst>
          </p:cNvPr>
          <p:cNvCxnSpPr>
            <a:cxnSpLocks/>
          </p:cNvCxnSpPr>
          <p:nvPr/>
        </p:nvCxnSpPr>
        <p:spPr>
          <a:xfrm flipV="1">
            <a:off x="6096000" y="4152127"/>
            <a:ext cx="808940" cy="4235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B5B10B2-5CA8-09D1-A3AD-4E62CD60E7F3}"/>
              </a:ext>
            </a:extLst>
          </p:cNvPr>
          <p:cNvCxnSpPr>
            <a:cxnSpLocks/>
          </p:cNvCxnSpPr>
          <p:nvPr/>
        </p:nvCxnSpPr>
        <p:spPr>
          <a:xfrm>
            <a:off x="6904940" y="4149271"/>
            <a:ext cx="653184" cy="6162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1361BFA-0B4F-5EBA-C9FA-B15AFFDA3CCE}"/>
              </a:ext>
            </a:extLst>
          </p:cNvPr>
          <p:cNvSpPr txBox="1"/>
          <p:nvPr/>
        </p:nvSpPr>
        <p:spPr>
          <a:xfrm>
            <a:off x="7055638" y="3396103"/>
            <a:ext cx="211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Angle inter-thigh</a:t>
            </a:r>
          </a:p>
          <a:p>
            <a:pPr algn="ctr"/>
            <a:r>
              <a:rPr lang="en-US" altLang="zh-CN" dirty="0">
                <a:highlight>
                  <a:srgbClr val="FFFF00"/>
                </a:highlight>
              </a:rPr>
              <a:t>&gt;120°</a:t>
            </a:r>
            <a:endParaRPr lang="zh-CN" altLang="en-US" dirty="0">
              <a:highlight>
                <a:srgbClr val="FFFF00"/>
              </a:highlight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DD3C5E3-6F40-9951-3365-DF6074FF4721}"/>
              </a:ext>
            </a:extLst>
          </p:cNvPr>
          <p:cNvCxnSpPr>
            <a:cxnSpLocks/>
          </p:cNvCxnSpPr>
          <p:nvPr/>
        </p:nvCxnSpPr>
        <p:spPr>
          <a:xfrm flipH="1">
            <a:off x="7013878" y="3792778"/>
            <a:ext cx="544246" cy="34158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D06044B3-5A63-569E-0D77-DEDB021C5F46}"/>
              </a:ext>
            </a:extLst>
          </p:cNvPr>
          <p:cNvSpPr txBox="1"/>
          <p:nvPr/>
        </p:nvSpPr>
        <p:spPr>
          <a:xfrm>
            <a:off x="1201948" y="162150"/>
            <a:ext cx="50882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/>
              <a:t>Lunge Detection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4168750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972B4-3674-4E07-8CE1-7389BDDF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Attack detection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ED7D58-3B5B-CE35-43AD-000D6E2CC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6697" y="1772374"/>
            <a:ext cx="5811373" cy="4351338"/>
          </a:xfrm>
          <a:prstGeom prst="rect">
            <a:avLst/>
          </a:prstGeom>
        </p:spPr>
      </p:pic>
      <p:sp>
        <p:nvSpPr>
          <p:cNvPr id="6" name="弧形 5">
            <a:extLst>
              <a:ext uri="{FF2B5EF4-FFF2-40B4-BE49-F238E27FC236}">
                <a16:creationId xmlns:a16="http://schemas.microsoft.com/office/drawing/2014/main" id="{5DFF1380-4C55-E183-039D-0EBB8EB2A73C}"/>
              </a:ext>
            </a:extLst>
          </p:cNvPr>
          <p:cNvSpPr/>
          <p:nvPr/>
        </p:nvSpPr>
        <p:spPr>
          <a:xfrm rot="16768597">
            <a:off x="5789753" y="3660917"/>
            <a:ext cx="505081" cy="445655"/>
          </a:xfrm>
          <a:prstGeom prst="arc">
            <a:avLst>
              <a:gd name="adj1" fmla="val 17360091"/>
              <a:gd name="adj2" fmla="val 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C20C65-1CCF-D5DB-974F-C66530D23C3F}"/>
              </a:ext>
            </a:extLst>
          </p:cNvPr>
          <p:cNvSpPr txBox="1"/>
          <p:nvPr/>
        </p:nvSpPr>
        <p:spPr>
          <a:xfrm>
            <a:off x="4136511" y="3171102"/>
            <a:ext cx="298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Elbow angle&gt;140°</a:t>
            </a:r>
            <a:endParaRPr lang="zh-CN" altLang="en-US" dirty="0">
              <a:highlight>
                <a:srgbClr val="FFFF00"/>
              </a:highlight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EFEFB04-D3B0-D830-145A-90BE3C2DA3E9}"/>
              </a:ext>
            </a:extLst>
          </p:cNvPr>
          <p:cNvCxnSpPr>
            <a:cxnSpLocks/>
          </p:cNvCxnSpPr>
          <p:nvPr/>
        </p:nvCxnSpPr>
        <p:spPr>
          <a:xfrm>
            <a:off x="5509711" y="3540434"/>
            <a:ext cx="360470" cy="11505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弧形 10">
            <a:extLst>
              <a:ext uri="{FF2B5EF4-FFF2-40B4-BE49-F238E27FC236}">
                <a16:creationId xmlns:a16="http://schemas.microsoft.com/office/drawing/2014/main" id="{AF90E2A5-46FD-300C-2651-E726068D9C94}"/>
              </a:ext>
            </a:extLst>
          </p:cNvPr>
          <p:cNvSpPr/>
          <p:nvPr/>
        </p:nvSpPr>
        <p:spPr>
          <a:xfrm rot="8137291">
            <a:off x="6178683" y="3048454"/>
            <a:ext cx="439506" cy="426044"/>
          </a:xfrm>
          <a:prstGeom prst="arc">
            <a:avLst>
              <a:gd name="adj1" fmla="val 19436988"/>
              <a:gd name="adj2" fmla="val 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072FF4-8281-0698-D6D8-0F2462F995DE}"/>
              </a:ext>
            </a:extLst>
          </p:cNvPr>
          <p:cNvSpPr txBox="1"/>
          <p:nvPr/>
        </p:nvSpPr>
        <p:spPr>
          <a:xfrm>
            <a:off x="5964199" y="3883744"/>
            <a:ext cx="298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Shoulder angle&gt;60°</a:t>
            </a:r>
            <a:endParaRPr lang="zh-CN" altLang="en-US" dirty="0">
              <a:highlight>
                <a:srgbClr val="FFFF00"/>
              </a:highlight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40EC9E6-AE83-B57B-DF4A-B65659C36484}"/>
              </a:ext>
            </a:extLst>
          </p:cNvPr>
          <p:cNvCxnSpPr>
            <a:cxnSpLocks/>
          </p:cNvCxnSpPr>
          <p:nvPr/>
        </p:nvCxnSpPr>
        <p:spPr>
          <a:xfrm flipH="1" flipV="1">
            <a:off x="6303660" y="3490739"/>
            <a:ext cx="354106" cy="41999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879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017A8-63E3-C8E5-C610-FED9CF1B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Design: Priority Decision Workflow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464A9F7-99CF-89E3-7692-33940C483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796" y="1624939"/>
            <a:ext cx="5251184" cy="48679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B0DF22A-BE48-1DE2-88E9-138A17D4BCA6}"/>
              </a:ext>
            </a:extLst>
          </p:cNvPr>
          <p:cNvSpPr txBox="1"/>
          <p:nvPr/>
        </p:nvSpPr>
        <p:spPr>
          <a:xfrm>
            <a:off x="838200" y="2012830"/>
            <a:ext cx="55395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It follows up with the most resent fencing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Step 1 — Arm Onset. The algorithm first compares the arm-onset times of both fencers (the time of attack). Threshold=2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Step 2 — Lunge Onset. Step 2 compares lunge-onset times. A lunge represents the committed forward displacement of the body. Threshold=2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Step 3 — Launch Time. Step 3 compares raw launch times with 10 frame simultaneity threshold. Threshold=10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Step 4 -- Forfeiture Check: No pause or step back ward in the whole attacking process after launch.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980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A5E73-7057-CB83-F1E6-C35196B4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Output Result: Log (from </a:t>
            </a:r>
            <a:r>
              <a:rPr lang="en-US" altLang="zh-CN" dirty="0" err="1"/>
              <a:t>debug_aggregator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76C615-0300-A7D5-EFCC-3765A183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78570" cy="4879975"/>
          </a:xfrm>
        </p:spPr>
        <p:txBody>
          <a:bodyPr>
            <a:normAutofit fontScale="32500" lnSpcReduction="20000"/>
          </a:bodyPr>
          <a:lstStyle/>
          <a:p>
            <a:r>
              <a:rPr lang="en-US" altLang="zh-CN" sz="5500" dirty="0">
                <a:highlight>
                  <a:srgbClr val="FFFF00"/>
                </a:highlight>
              </a:rPr>
              <a:t>Verdict process</a:t>
            </a:r>
          </a:p>
          <a:p>
            <a:r>
              <a:rPr lang="en-US" altLang="zh-CN" dirty="0"/>
              <a:t>INFO      Priority step 1: arm gap=1 ≤ 3 → check lunge</a:t>
            </a:r>
          </a:p>
          <a:p>
            <a:r>
              <a:rPr lang="en-US" altLang="zh-CN" dirty="0"/>
              <a:t>INFO      Priority step 2: lunge gap=1 ≤ 3 → check launch</a:t>
            </a:r>
          </a:p>
          <a:p>
            <a:r>
              <a:rPr lang="en-US" altLang="zh-CN" dirty="0"/>
              <a:t>INFO      Priority step 3: launch gap=12 &gt; 10 → </a:t>
            </a:r>
            <a:r>
              <a:rPr lang="en-US" altLang="zh-CN" dirty="0" err="1"/>
              <a:t>first_mover</a:t>
            </a:r>
            <a:r>
              <a:rPr lang="en-US" altLang="zh-CN" dirty="0"/>
              <a:t>=L</a:t>
            </a:r>
          </a:p>
          <a:p>
            <a:r>
              <a:rPr lang="en-US" altLang="zh-CN" dirty="0"/>
              <a:t>INFO      Priority step 3: </a:t>
            </a:r>
            <a:r>
              <a:rPr lang="en-US" altLang="zh-CN" dirty="0" err="1"/>
              <a:t>first_mover</a:t>
            </a:r>
            <a:r>
              <a:rPr lang="en-US" altLang="zh-CN" dirty="0"/>
              <a:t>=L      penalty=False | other=R penalty=False</a:t>
            </a:r>
          </a:p>
          <a:p>
            <a:r>
              <a:rPr lang="en-US" altLang="zh-CN" dirty="0"/>
              <a:t>=================================================================</a:t>
            </a:r>
          </a:p>
          <a:p>
            <a:r>
              <a:rPr lang="en-US" altLang="zh-CN" sz="7200" dirty="0">
                <a:highlight>
                  <a:srgbClr val="FFFF00"/>
                </a:highlight>
              </a:rPr>
              <a:t>Event Table</a:t>
            </a:r>
          </a:p>
          <a:p>
            <a:r>
              <a:rPr lang="en-US" altLang="zh-CN" dirty="0"/>
              <a:t>INFO                                  SYSTEM                               LEFT                                     RIGHT               </a:t>
            </a:r>
          </a:p>
          <a:p>
            <a:r>
              <a:rPr lang="en-US" altLang="zh-CN" dirty="0"/>
              <a:t>INFO        f0009  0.30s  BASELINE_CAPTURED                                                 </a:t>
            </a:r>
          </a:p>
          <a:p>
            <a:r>
              <a:rPr lang="en-US" altLang="zh-CN" dirty="0"/>
              <a:t>INFO        f0016  0.53s  WINDOW_OPEN                                                       </a:t>
            </a:r>
          </a:p>
          <a:p>
            <a:r>
              <a:rPr lang="en-US" altLang="zh-CN" dirty="0"/>
              <a:t>INFO        f0020  0.67s                                                LAUNCH                                    </a:t>
            </a:r>
          </a:p>
          <a:p>
            <a:r>
              <a:rPr lang="en-US" altLang="zh-CN" dirty="0"/>
              <a:t>INFO        f0032  1.07s                                                                                               LAUNCH              </a:t>
            </a:r>
          </a:p>
          <a:p>
            <a:r>
              <a:rPr lang="en-US" altLang="zh-CN" dirty="0"/>
              <a:t>INFO        f0041  1.37s                                                                                         ATTACK_START        </a:t>
            </a:r>
          </a:p>
          <a:p>
            <a:r>
              <a:rPr lang="en-US" altLang="zh-CN" dirty="0"/>
              <a:t>INFO        f0042  1.40s                                           ATTACK_START                              </a:t>
            </a:r>
          </a:p>
          <a:p>
            <a:r>
              <a:rPr lang="en-US" altLang="zh-CN" dirty="0"/>
              <a:t>INFO        f0042  1.40s                                                  LUNGE                                     </a:t>
            </a:r>
          </a:p>
          <a:p>
            <a:r>
              <a:rPr lang="en-US" altLang="zh-CN" dirty="0"/>
              <a:t>INFO        f0043  1.43s                                                                                                 LUNGE               </a:t>
            </a:r>
          </a:p>
          <a:p>
            <a:r>
              <a:rPr lang="en-US" altLang="zh-CN" dirty="0"/>
              <a:t>INFO        f0044  1.47s  LIGHT_ON_L                                                        </a:t>
            </a:r>
          </a:p>
          <a:p>
            <a:r>
              <a:rPr lang="en-US" altLang="zh-CN" dirty="0"/>
              <a:t>INFO        f0046  1.53s  LIGHT_ON_R                                                        </a:t>
            </a:r>
          </a:p>
          <a:p>
            <a:r>
              <a:rPr lang="en-US" altLang="zh-CN" dirty="0"/>
              <a:t>INFO        f0046  1.53s  LIGHT_ON_BOTH                                                     </a:t>
            </a:r>
          </a:p>
          <a:p>
            <a:r>
              <a:rPr lang="en-US" altLang="zh-CN" dirty="0"/>
              <a:t>INFO        f0056  1.87s  WINDOW_CLOSE                                                      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9719218-9041-3446-3102-9272312D4A82}"/>
              </a:ext>
            </a:extLst>
          </p:cNvPr>
          <p:cNvSpPr txBox="1">
            <a:spLocks/>
          </p:cNvSpPr>
          <p:nvPr/>
        </p:nvSpPr>
        <p:spPr>
          <a:xfrm>
            <a:off x="6216769" y="1690688"/>
            <a:ext cx="59062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highlight>
                  <a:srgbClr val="FFFF00"/>
                </a:highlight>
              </a:rPr>
              <a:t>INFO      KEY TIMESTAMPS  (frame | seconds @ 30 fps)</a:t>
            </a:r>
          </a:p>
          <a:p>
            <a:r>
              <a:rPr lang="en-US" altLang="zh-CN" dirty="0"/>
              <a:t>INFO        </a:t>
            </a:r>
            <a:r>
              <a:rPr lang="en-US" altLang="zh-CN" dirty="0" err="1"/>
              <a:t>T_arm_L</a:t>
            </a:r>
            <a:r>
              <a:rPr lang="en-US" altLang="zh-CN" dirty="0"/>
              <a:t>       f0042  1.40s</a:t>
            </a:r>
          </a:p>
          <a:p>
            <a:r>
              <a:rPr lang="en-US" altLang="zh-CN" dirty="0"/>
              <a:t>INFO        </a:t>
            </a:r>
            <a:r>
              <a:rPr lang="en-US" altLang="zh-CN" dirty="0" err="1"/>
              <a:t>T_arm_R</a:t>
            </a:r>
            <a:r>
              <a:rPr lang="en-US" altLang="zh-CN" dirty="0"/>
              <a:t>       f0041  1.37s</a:t>
            </a:r>
          </a:p>
          <a:p>
            <a:r>
              <a:rPr lang="en-US" altLang="zh-CN" dirty="0"/>
              <a:t>INFO        </a:t>
            </a:r>
            <a:r>
              <a:rPr lang="en-US" altLang="zh-CN" dirty="0" err="1"/>
              <a:t>T_step_L</a:t>
            </a:r>
            <a:r>
              <a:rPr lang="en-US" altLang="zh-CN" dirty="0"/>
              <a:t>      f0042  1.40s</a:t>
            </a:r>
          </a:p>
          <a:p>
            <a:r>
              <a:rPr lang="en-US" altLang="zh-CN" dirty="0"/>
              <a:t>INFO        </a:t>
            </a:r>
            <a:r>
              <a:rPr lang="en-US" altLang="zh-CN" dirty="0" err="1"/>
              <a:t>T_step_R</a:t>
            </a:r>
            <a:r>
              <a:rPr lang="en-US" altLang="zh-CN" dirty="0"/>
              <a:t>      f0043  1.43s</a:t>
            </a:r>
          </a:p>
          <a:p>
            <a:r>
              <a:rPr lang="en-US" altLang="zh-CN" dirty="0"/>
              <a:t>INFO        </a:t>
            </a:r>
            <a:r>
              <a:rPr lang="en-US" altLang="zh-CN" dirty="0" err="1"/>
              <a:t>T_launch_L</a:t>
            </a:r>
            <a:r>
              <a:rPr lang="en-US" altLang="zh-CN" dirty="0"/>
              <a:t>    f0020  0.67s</a:t>
            </a:r>
          </a:p>
          <a:p>
            <a:r>
              <a:rPr lang="en-US" altLang="zh-CN" dirty="0"/>
              <a:t>INFO        </a:t>
            </a:r>
            <a:r>
              <a:rPr lang="en-US" altLang="zh-CN" dirty="0" err="1"/>
              <a:t>T_launch_R</a:t>
            </a:r>
            <a:r>
              <a:rPr lang="en-US" altLang="zh-CN" dirty="0"/>
              <a:t>    f0032  1.07s</a:t>
            </a:r>
          </a:p>
          <a:p>
            <a:r>
              <a:rPr lang="en-US" altLang="zh-CN" dirty="0"/>
              <a:t>INFO        </a:t>
            </a:r>
            <a:r>
              <a:rPr lang="en-US" altLang="zh-CN" dirty="0" err="1"/>
              <a:t>pause_L</a:t>
            </a:r>
            <a:r>
              <a:rPr lang="en-US" altLang="zh-CN" dirty="0"/>
              <a:t> = False | </a:t>
            </a:r>
            <a:r>
              <a:rPr lang="en-US" altLang="zh-CN" dirty="0" err="1"/>
              <a:t>pause_R</a:t>
            </a:r>
            <a:r>
              <a:rPr lang="en-US" altLang="zh-CN" dirty="0"/>
              <a:t> = False</a:t>
            </a:r>
          </a:p>
          <a:p>
            <a:r>
              <a:rPr lang="en-US" altLang="zh-CN" dirty="0"/>
              <a:t>INFO        </a:t>
            </a:r>
            <a:r>
              <a:rPr lang="en-US" altLang="zh-CN" dirty="0" err="1"/>
              <a:t>step_back_L</a:t>
            </a:r>
            <a:r>
              <a:rPr lang="en-US" altLang="zh-CN" dirty="0"/>
              <a:t> = False | </a:t>
            </a:r>
            <a:r>
              <a:rPr lang="en-US" altLang="zh-CN" dirty="0" err="1"/>
              <a:t>step_back_R</a:t>
            </a:r>
            <a:r>
              <a:rPr lang="en-US" altLang="zh-CN" dirty="0"/>
              <a:t> = False</a:t>
            </a:r>
          </a:p>
          <a:p>
            <a:r>
              <a:rPr lang="en-US" altLang="zh-CN" dirty="0"/>
              <a:t>   </a:t>
            </a:r>
          </a:p>
          <a:p>
            <a:r>
              <a:rPr lang="en-US" altLang="zh-CN" dirty="0">
                <a:highlight>
                  <a:srgbClr val="FFFF00"/>
                </a:highlight>
              </a:rPr>
              <a:t>Result     VERDICT:  </a:t>
            </a:r>
            <a:r>
              <a:rPr lang="en-US" altLang="zh-CN" dirty="0" err="1">
                <a:highlight>
                  <a:srgbClr val="FFFF00"/>
                </a:highlight>
              </a:rPr>
              <a:t>Verdict.LEFT_SCORES</a:t>
            </a:r>
            <a:endParaRPr lang="en-US" altLang="zh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10357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5ACE1-A1CC-AAA4-C454-D8F28816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Output Result: visualization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7095538-4D96-DA3D-419A-8C23651B8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273" y="1634540"/>
            <a:ext cx="4016543" cy="49109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E37AEC9-97C7-C6F5-5695-5F419A26F8CA}"/>
              </a:ext>
            </a:extLst>
          </p:cNvPr>
          <p:cNvSpPr txBox="1"/>
          <p:nvPr/>
        </p:nvSpPr>
        <p:spPr>
          <a:xfrm>
            <a:off x="838200" y="1846052"/>
            <a:ext cx="271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File name and truth result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714FE2-719C-A1CC-9E9B-371D94B3444F}"/>
              </a:ext>
            </a:extLst>
          </p:cNvPr>
          <p:cNvSpPr txBox="1"/>
          <p:nvPr/>
        </p:nvSpPr>
        <p:spPr>
          <a:xfrm>
            <a:off x="8666672" y="1265208"/>
            <a:ext cx="3195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Verdict result by the </a:t>
            </a:r>
            <a:r>
              <a:rPr lang="en-US" altLang="zh-CN" dirty="0" err="1"/>
              <a:t>algorihtm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6DCA4C-6D90-7B25-539A-1BBF6C4D611C}"/>
              </a:ext>
            </a:extLst>
          </p:cNvPr>
          <p:cNvSpPr txBox="1"/>
          <p:nvPr/>
        </p:nvSpPr>
        <p:spPr>
          <a:xfrm>
            <a:off x="1104181" y="3933645"/>
            <a:ext cx="1914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Attack joint 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Elbow&gt;140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Shoulder&gt;60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73C534-8DA7-1947-3FD6-A6CCF869099D}"/>
              </a:ext>
            </a:extLst>
          </p:cNvPr>
          <p:cNvSpPr txBox="1"/>
          <p:nvPr/>
        </p:nvSpPr>
        <p:spPr>
          <a:xfrm>
            <a:off x="8286764" y="3266660"/>
            <a:ext cx="39569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Lunge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Knee angle&gt;150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Thigh angle: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Left: &gt;100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Right:&gt;120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Stance width: &gt;2*of baseline 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dirty="0"/>
              <a:t>Thigh value is different for left and right side is because the project of the camera and the body angle influence 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8C76CA6-91C7-3B39-8E12-E37152F47757}"/>
              </a:ext>
            </a:extLst>
          </p:cNvPr>
          <p:cNvCxnSpPr>
            <a:stCxn id="6" idx="3"/>
          </p:cNvCxnSpPr>
          <p:nvPr/>
        </p:nvCxnSpPr>
        <p:spPr>
          <a:xfrm flipV="1">
            <a:off x="3557214" y="1788543"/>
            <a:ext cx="443059" cy="242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25C1E91-D1C2-D934-18C2-EB10D8FEB41B}"/>
              </a:ext>
            </a:extLst>
          </p:cNvPr>
          <p:cNvCxnSpPr>
            <a:stCxn id="7" idx="1"/>
          </p:cNvCxnSpPr>
          <p:nvPr/>
        </p:nvCxnSpPr>
        <p:spPr>
          <a:xfrm flipH="1">
            <a:off x="7516483" y="1449874"/>
            <a:ext cx="1150189" cy="240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AEA411D-A29F-5C81-5FA2-9A73EA16B0D1}"/>
              </a:ext>
            </a:extLst>
          </p:cNvPr>
          <p:cNvCxnSpPr>
            <a:stCxn id="8" idx="3"/>
          </p:cNvCxnSpPr>
          <p:nvPr/>
        </p:nvCxnSpPr>
        <p:spPr>
          <a:xfrm flipV="1">
            <a:off x="3018488" y="2582174"/>
            <a:ext cx="1099187" cy="1813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794DF5B-2CA1-539B-C70F-807FDAF9F417}"/>
              </a:ext>
            </a:extLst>
          </p:cNvPr>
          <p:cNvCxnSpPr>
            <a:stCxn id="8" idx="3"/>
          </p:cNvCxnSpPr>
          <p:nvPr/>
        </p:nvCxnSpPr>
        <p:spPr>
          <a:xfrm>
            <a:off x="3018488" y="4395310"/>
            <a:ext cx="1081935" cy="320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A6115D4-B399-8AE7-E20F-D8087D5A09A7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7470475" y="3485072"/>
            <a:ext cx="816289" cy="1212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67A8EA6-CAB6-D0C0-D184-4C6A8821FB5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516483" y="4697821"/>
            <a:ext cx="770281" cy="897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778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B5F2C-FD2F-91EB-B68F-23A3AFD7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Output Result: Event visualization 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0D5E2684-292D-5067-716D-71B0F55FB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40" y="1825616"/>
            <a:ext cx="10515600" cy="210848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E946DFE-BA84-E2B5-8156-703E7F5CD8A3}"/>
              </a:ext>
            </a:extLst>
          </p:cNvPr>
          <p:cNvSpPr txBox="1"/>
          <p:nvPr/>
        </p:nvSpPr>
        <p:spPr>
          <a:xfrm>
            <a:off x="2179606" y="4411262"/>
            <a:ext cx="6872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event output will help the judge to see when which event is happened. It will be easier to compare different athletes’ action and their difference of time.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585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1C508D-0EA5-98E8-A67B-1F4E64C4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Accuracy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047721-07F1-C064-DFA5-88B8DCC69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3921" cy="4351338"/>
          </a:xfrm>
        </p:spPr>
        <p:txBody>
          <a:bodyPr>
            <a:normAutofit fontScale="40000" lnSpcReduction="20000"/>
          </a:bodyPr>
          <a:lstStyle/>
          <a:p>
            <a:r>
              <a:rPr lang="en-US" altLang="zh-CN" dirty="0"/>
              <a:t>Video                                                  GT                        Predicted                Match</a:t>
            </a:r>
          </a:p>
          <a:p>
            <a:r>
              <a:rPr lang="zh-CN" altLang="en-US" dirty="0"/>
              <a:t>  互中</a:t>
            </a:r>
            <a:r>
              <a:rPr lang="en-US" altLang="zh-CN" dirty="0"/>
              <a:t>1</a:t>
            </a:r>
            <a:r>
              <a:rPr lang="zh-CN" altLang="en-US" dirty="0"/>
              <a:t>左侧                                </a:t>
            </a:r>
            <a:r>
              <a:rPr lang="en-US" altLang="zh-CN" dirty="0"/>
              <a:t>LEFT_SCORES           </a:t>
            </a:r>
            <a:r>
              <a:rPr lang="en-US" altLang="zh-CN" dirty="0" err="1"/>
              <a:t>LEFT_SCORES</a:t>
            </a:r>
            <a:r>
              <a:rPr lang="en-US" altLang="zh-CN" dirty="0"/>
              <a:t>        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互中</a:t>
            </a:r>
            <a:r>
              <a:rPr lang="en-US" altLang="zh-CN" dirty="0"/>
              <a:t>2</a:t>
            </a:r>
            <a:r>
              <a:rPr lang="zh-CN" altLang="en-US" dirty="0"/>
              <a:t>右侧                                </a:t>
            </a:r>
            <a:r>
              <a:rPr lang="en-US" altLang="zh-CN" dirty="0"/>
              <a:t>RIGHT_SCORES          </a:t>
            </a:r>
            <a:r>
              <a:rPr lang="en-US" altLang="zh-CN" dirty="0" err="1"/>
              <a:t>RIGHT_SCORES</a:t>
            </a:r>
            <a:r>
              <a:rPr lang="en-US" altLang="zh-CN" dirty="0"/>
              <a:t>   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互中</a:t>
            </a:r>
            <a:r>
              <a:rPr lang="en-US" altLang="zh-CN" dirty="0"/>
              <a:t>3</a:t>
            </a:r>
            <a:r>
              <a:rPr lang="zh-CN" altLang="en-US" dirty="0"/>
              <a:t>右侧                                </a:t>
            </a:r>
            <a:r>
              <a:rPr lang="en-US" altLang="zh-CN" dirty="0"/>
              <a:t>RIGHT_SCORES          </a:t>
            </a:r>
            <a:r>
              <a:rPr lang="en-US" altLang="zh-CN" dirty="0" err="1"/>
              <a:t>RIGHT_SCORES</a:t>
            </a:r>
            <a:r>
              <a:rPr lang="en-US" altLang="zh-CN" dirty="0"/>
              <a:t>   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互中</a:t>
            </a:r>
            <a:r>
              <a:rPr lang="en-US" altLang="zh-CN" dirty="0"/>
              <a:t>4</a:t>
            </a:r>
            <a:r>
              <a:rPr lang="zh-CN" altLang="en-US" dirty="0"/>
              <a:t>右侧                                </a:t>
            </a:r>
            <a:r>
              <a:rPr lang="en-US" altLang="zh-CN" dirty="0"/>
              <a:t>RIGHT_SCORES          </a:t>
            </a:r>
            <a:r>
              <a:rPr lang="en-US" altLang="zh-CN" dirty="0" err="1"/>
              <a:t>RIGHT_SCORES</a:t>
            </a:r>
            <a:r>
              <a:rPr lang="en-US" altLang="zh-CN" dirty="0"/>
              <a:t>   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互中</a:t>
            </a:r>
            <a:r>
              <a:rPr lang="en-US" altLang="zh-CN" dirty="0"/>
              <a:t>5</a:t>
            </a:r>
            <a:r>
              <a:rPr lang="zh-CN" altLang="en-US" dirty="0"/>
              <a:t>右侧                                </a:t>
            </a:r>
            <a:r>
              <a:rPr lang="en-US" altLang="zh-CN" dirty="0"/>
              <a:t>RIGHT_SCORES          LEFT_SCORES             ✗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互中</a:t>
            </a:r>
            <a:r>
              <a:rPr lang="en-US" altLang="zh-CN" dirty="0"/>
              <a:t>5</a:t>
            </a:r>
            <a:r>
              <a:rPr lang="zh-CN" altLang="en-US" dirty="0"/>
              <a:t>右侧慢动作                     </a:t>
            </a:r>
            <a:r>
              <a:rPr lang="en-US" altLang="zh-CN" dirty="0"/>
              <a:t>RIGHT_SCORES          </a:t>
            </a:r>
            <a:r>
              <a:rPr lang="en-US" altLang="zh-CN" dirty="0" err="1"/>
              <a:t>RIGHT_SCORES</a:t>
            </a:r>
            <a:r>
              <a:rPr lang="en-US" altLang="zh-CN" dirty="0"/>
              <a:t>   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同时</a:t>
            </a:r>
            <a:r>
              <a:rPr lang="en-US" altLang="zh-CN" dirty="0"/>
              <a:t>1                                       SIMULTANEOUS          </a:t>
            </a:r>
            <a:r>
              <a:rPr lang="en-US" altLang="zh-CN" dirty="0" err="1"/>
              <a:t>SIMULTANEOUS</a:t>
            </a:r>
            <a:r>
              <a:rPr lang="en-US" altLang="zh-CN" dirty="0"/>
              <a:t>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同时</a:t>
            </a:r>
            <a:r>
              <a:rPr lang="en-US" altLang="zh-CN" dirty="0"/>
              <a:t>2                                       SIMULTANEOUS          </a:t>
            </a:r>
            <a:r>
              <a:rPr lang="en-US" altLang="zh-CN" dirty="0" err="1"/>
              <a:t>SIMULTANEOUS</a:t>
            </a:r>
            <a:r>
              <a:rPr lang="en-US" altLang="zh-CN" dirty="0"/>
              <a:t>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同时</a:t>
            </a:r>
            <a:r>
              <a:rPr lang="en-US" altLang="zh-CN" dirty="0"/>
              <a:t>3                                       SIMULTANEOUS          </a:t>
            </a:r>
            <a:r>
              <a:rPr lang="en-US" altLang="zh-CN" dirty="0" err="1"/>
              <a:t>SIMULTANEOUS</a:t>
            </a:r>
            <a:r>
              <a:rPr lang="en-US" altLang="zh-CN" dirty="0"/>
              <a:t>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同时</a:t>
            </a:r>
            <a:r>
              <a:rPr lang="en-US" altLang="zh-CN" dirty="0"/>
              <a:t>4                                       SIMULTANEOUS          </a:t>
            </a:r>
            <a:r>
              <a:rPr lang="en-US" altLang="zh-CN" dirty="0" err="1"/>
              <a:t>SIMULTANEOUS</a:t>
            </a:r>
            <a:r>
              <a:rPr lang="en-US" altLang="zh-CN" dirty="0"/>
              <a:t>        ✓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同时飞剑</a:t>
            </a:r>
            <a:r>
              <a:rPr lang="en-US" altLang="zh-CN" dirty="0"/>
              <a:t>-1                              SIMULTANEOUS          LEFT_SCORES             ✗</a:t>
            </a:r>
          </a:p>
          <a:p>
            <a:endParaRPr lang="en-US" altLang="zh-CN" dirty="0"/>
          </a:p>
          <a:p>
            <a:r>
              <a:rPr lang="en-US" altLang="zh-CN" dirty="0"/>
              <a:t>  Labelled videos : 11</a:t>
            </a:r>
          </a:p>
          <a:p>
            <a:r>
              <a:rPr lang="en-US" altLang="zh-CN" dirty="0"/>
              <a:t>  Correct         : 9</a:t>
            </a:r>
          </a:p>
          <a:p>
            <a:r>
              <a:rPr lang="en-US" altLang="zh-CN" dirty="0"/>
              <a:t>  Accuracy        : 81.8%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660B99-3A63-73CB-5DCE-C681442302FE}"/>
              </a:ext>
            </a:extLst>
          </p:cNvPr>
          <p:cNvSpPr txBox="1"/>
          <p:nvPr/>
        </p:nvSpPr>
        <p:spPr>
          <a:xfrm>
            <a:off x="7355457" y="1690688"/>
            <a:ext cx="475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 the 11 test cases, the accuracy is 81%</a:t>
            </a:r>
          </a:p>
          <a:p>
            <a:r>
              <a:rPr lang="en-US" altLang="zh-CN" dirty="0"/>
              <a:t>For the future, I should also get a larger data set to test on the accuracy on the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804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92B77-FB13-5E82-74DE-9026E029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Need improvement: sword tracking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95B324-45AD-BF6A-86C9-8C628D707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3520" cy="4351338"/>
          </a:xfrm>
        </p:spPr>
        <p:txBody>
          <a:bodyPr/>
          <a:lstStyle/>
          <a:p>
            <a:r>
              <a:rPr lang="en-US" altLang="zh-CN" dirty="0"/>
              <a:t>Sword detection will help a </a:t>
            </a:r>
            <a:r>
              <a:rPr lang="en-US" altLang="zh-CN" dirty="0" err="1"/>
              <a:t>lpt</a:t>
            </a:r>
            <a:r>
              <a:rPr lang="en-US" altLang="zh-CN" dirty="0"/>
              <a:t> in define the priority of attack</a:t>
            </a:r>
          </a:p>
          <a:p>
            <a:r>
              <a:rPr lang="en-US" altLang="zh-CN" dirty="0"/>
              <a:t>There is no such data set or library to tracking yet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88F6E3-4AEF-9EB0-A649-8F3AFBBDA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720" y="2391582"/>
            <a:ext cx="6848472" cy="387281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0853A864-9510-E8FD-4F19-DD7DAAD534E6}"/>
              </a:ext>
            </a:extLst>
          </p:cNvPr>
          <p:cNvSpPr/>
          <p:nvPr/>
        </p:nvSpPr>
        <p:spPr>
          <a:xfrm rot="20309260">
            <a:off x="8305766" y="4060580"/>
            <a:ext cx="701615" cy="14377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D5063CE-E176-DDF3-BAA3-2465687D0D85}"/>
              </a:ext>
            </a:extLst>
          </p:cNvPr>
          <p:cNvSpPr/>
          <p:nvPr/>
        </p:nvSpPr>
        <p:spPr>
          <a:xfrm rot="761501">
            <a:off x="8663796" y="4256101"/>
            <a:ext cx="701615" cy="14377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45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1003</Words>
  <Application>Microsoft Office PowerPoint</Application>
  <PresentationFormat>宽屏</PresentationFormat>
  <Paragraphs>127</Paragraphs>
  <Slides>13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Fencing Post Detection and  Auto Referee</vt:lpstr>
      <vt:lpstr>Preliminary: how fencing referee judge double hit</vt:lpstr>
      <vt:lpstr>Related work:</vt:lpstr>
      <vt:lpstr>Core Design: Temporal Segmentation</vt:lpstr>
      <vt:lpstr>Core Design: Motion Detection</vt:lpstr>
      <vt:lpstr>PowerPoint 演示文稿</vt:lpstr>
      <vt:lpstr>Attack detection</vt:lpstr>
      <vt:lpstr>Core Design: Priority Decision Workflow</vt:lpstr>
      <vt:lpstr>Output Result: Log (from debug_aggregator</vt:lpstr>
      <vt:lpstr>Output Result: visualization</vt:lpstr>
      <vt:lpstr>Output Result: Event visualization </vt:lpstr>
      <vt:lpstr>Accuracy</vt:lpstr>
      <vt:lpstr>Need improvement: sword tracking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Yucheng Zhu</dc:creator>
  <cp:lastModifiedBy>Yucheng Zhu</cp:lastModifiedBy>
  <cp:revision>2</cp:revision>
  <dcterms:created xsi:type="dcterms:W3CDTF">2026-05-07T05:02:48Z</dcterms:created>
  <dcterms:modified xsi:type="dcterms:W3CDTF">2026-05-07T13:29:13Z</dcterms:modified>
</cp:coreProperties>
</file>